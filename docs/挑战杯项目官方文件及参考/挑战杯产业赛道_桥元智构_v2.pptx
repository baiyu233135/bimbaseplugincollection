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44024" y="292608"/>
            <a:ext cx="850392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第十九届“挑战杯”全国大学生课外学术科技作品竞赛 · 中国青年科技创新“揭榜挂帅”擂台赛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612648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桥元智构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249424"/>
            <a:ext cx="61722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基于国产 BIMBase 三维引擎与人工智能的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桥梁建养一体化平台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0175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BridgeElement Intelligence · BIMBase ×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3456432"/>
            <a:ext cx="11155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参赛赛道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1952" y="3456432"/>
            <a:ext cx="5074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wrap="square" rIns="36576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产业赛道（揭榜挂帅）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4005072"/>
            <a:ext cx="11155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参赛赛题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952" y="4005072"/>
            <a:ext cx="5074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wrap="square" rIns="36576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XH-202601 人工智能与国产三维图形引擎关键核心技术的融合创新应用研究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4553712"/>
            <a:ext cx="11155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发榜单位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4553712"/>
            <a:ext cx="5074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wrap="square" rIns="36576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中国建筑科学研究院有限公司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5212080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参赛学校：______（待填写）  团队名称：______（待填写）  指导教师：______（待填写）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687568"/>
            <a:ext cx="63093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建 · 验 · 诊 · 养 全链路闭环 ｜ 常泰长江大桥真实工程验证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234440"/>
            <a:ext cx="4709160" cy="448056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常泰长江大桥 P3D 全景截图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（获取方式：BIMBase 中打开 P3D文件/常泰长江大桥.p3d，三维视图截图）</a:t>
            </a:r>
          </a:p>
        </p:txBody>
      </p:sp>
      <p:sp>
        <p:nvSpPr>
          <p:cNvPr id="16" name="Freeform 15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CONTENTS · 桥元智构汇报框架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07008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53312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行业背景与痛点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国产引擎 · 人工巡检 · 数据割裂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07008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207008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1353312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研究意义与现状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国内外研究进展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414016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14016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60320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项目总览与目标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建-验-诊-养闭环 · 技术底座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414016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414016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2560320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智能建造 · 建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AI 建模 · CAD 画板 · 图纸识别 · 组件库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21024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21024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767328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工程验证 · 验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常泰长江大桥 P3D 工程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621024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621024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3767328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智能诊断 · 诊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病害检测 · AI 诊断 · 面投影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828032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28032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74336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智慧养护 · 养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报告闭环 · 数字孪生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4828032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828032"/>
            <a:ext cx="868680" cy="107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4974336"/>
            <a:ext cx="416052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特色创新与产业价值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项目特色 · 六项创新 · 推广路径</a:t>
            </a:r>
          </a:p>
        </p:txBody>
      </p:sp>
      <p:sp>
        <p:nvSpPr>
          <p:cNvPr id="31" name="Freeform 30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行业背景 · 政策与战略驱动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“十五五”开局，智能建造与自主可控的双重号角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3016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45336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交通强国战略深入推进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我国桥梁保有量居世界前列，运维养管需求持续增长，桥梁数字化建养成为行业共识。【行业数据待补权威来源】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325880"/>
            <a:ext cx="363016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国产三维引擎自主可控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6712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BIM 基础三维图形引擎的自主可控，已成为关乎国家重大工程建设安全与建设领域数字主权的关键战役。（引自赛题文件）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325880"/>
            <a:ext cx="363016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75904" y="1545336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AI×BIM 融合新赛道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2167128"/>
            <a:ext cx="3081528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发榜单位中国建研院自主研发的 BIMBase 平台已实现设计工具层面自主化，亟需探索 AI 在智能建模、智慧运维等场景的融合应用。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46320"/>
            <a:ext cx="11369009" cy="1298448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政策文件或桥梁全景横幅图 1 张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（获取方式：政府官网/新闻下载，或用常泰长江大桥 P3D 全景裁切）</a:t>
            </a:r>
          </a:p>
        </p:txBody>
      </p:sp>
      <p:sp>
        <p:nvSpPr>
          <p:cNvPr id="17" name="Freeform 16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研究痛点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桥梁建养行业的四大结构性难题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43584"/>
            <a:ext cx="5532120" cy="1938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444752"/>
            <a:ext cx="21031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· 引擎受制于人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桥梁三维设计建模长期依赖国外商业 BIM 软件，国产三维图形引擎存在“卡脖子”风险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43584"/>
            <a:ext cx="5532120" cy="1938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01384" y="1444752"/>
            <a:ext cx="21031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· 巡检依赖人工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病害检测以人工目测为主，效率低、主观性强，高空水上作业危险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46704"/>
            <a:ext cx="5532120" cy="1938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3547872"/>
            <a:ext cx="21031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· 病害与模型脱节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096512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检测结果停留在纸质报告与二维照片，无法落位到 BIM 具体构件，病害演变难以追踪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346704"/>
            <a:ext cx="5532120" cy="1938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1384" y="3547872"/>
            <a:ext cx="21031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· 建养数据割裂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096512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建造模型与运维数据互不贯通，模型价值随竣工而终结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541264"/>
            <a:ext cx="11369009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9017"/>
              </a:gs>
              <a:gs pos="100000">
                <a:srgbClr val="FBAF4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亟需“国产引擎 + 人工智能”的桥梁建养一体化平台</a:t>
            </a:r>
          </a:p>
        </p:txBody>
      </p:sp>
      <p:sp>
        <p:nvSpPr>
          <p:cNvPr id="20" name="Freeform 19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为什么做 —— 三重价值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3630168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96012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0048"/>
            <a:ext cx="3172968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推动桥梁建养数字化转型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0128"/>
            <a:ext cx="3081528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提供“国产引擎 + AI”全流程方案，助力桥梁运维从“经验驱动”向“数据驱动”跨越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600200"/>
            <a:ext cx="3630168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828800"/>
            <a:ext cx="96012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2670048"/>
            <a:ext cx="3172968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填补国产平台应用空白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310128"/>
            <a:ext cx="3081528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首个基于国产 BIMBase 引擎的“病害识别 — BIM 投影”闭环，为 BIMBase 生态贡献桥梁专业插件体系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600200"/>
            <a:ext cx="3630168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1904" y="1828800"/>
            <a:ext cx="96012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2670048"/>
            <a:ext cx="3172968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服务国家自主可控战略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3310128"/>
            <a:ext cx="3081528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从三维引擎到 AI 应用全栈摆脱对国外平台依赖，保障桥梁工程数据安全</a:t>
            </a:r>
          </a:p>
        </p:txBody>
      </p:sp>
      <p:sp>
        <p:nvSpPr>
          <p:cNvPr id="19" name="Freeform 18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站在何处 —— 现状与缺口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553212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481328"/>
            <a:ext cx="164592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国外现状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4983480" cy="2697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BIM 生态由 Revit / IFC 等国外平台主导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病害三维定位多依赖摄影测量与点云配准，设备昂贵、流程重，基层管养难落地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61872"/>
            <a:ext cx="553212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01384" y="1481328"/>
            <a:ext cx="164592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国内现状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983480" cy="2697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BIMBase 国产三维引擎实现自主化突破，并开放 Python 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基于 YOLO 系列的病害识别研究日益成熟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FB9017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50" b="1">
                <a:solidFill>
                  <a:srgbClr val="FB9017"/>
                </a:solidFill>
                <a:latin typeface="微软雅黑"/>
                <a:ea typeface="微软雅黑"/>
                <a:cs typeface="微软雅黑"/>
              </a:rPr>
              <a:t>但“AI 识别 → BIM 构件落位 → 养护闭环”的完整链路仍缺失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138928"/>
            <a:ext cx="11369009" cy="5303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F6CC6"/>
              </a:gs>
              <a:gs pos="100000">
                <a:srgbClr val="1487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现有成果多基于国外平台，国产引擎上的桥梁建养一体化应用尚属空白 —— 本项目切入点</a:t>
            </a:r>
          </a:p>
        </p:txBody>
      </p:sp>
      <p:sp>
        <p:nvSpPr>
          <p:cNvPr id="14" name="Freeform 13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项目总览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建 · 验 · 诊 · 养 全链路闭环架构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5603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627632"/>
            <a:ext cx="2157984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 · 智能建造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212848"/>
            <a:ext cx="2157984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AI 智能建模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CAD 画板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图纸识别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参数化组件库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90088" y="2788920"/>
            <a:ext cx="338328" cy="274320"/>
          </a:xfrm>
          <a:prstGeom prst="rightArrow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47618" y="1417320"/>
            <a:ext cx="25603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8786" y="1627632"/>
            <a:ext cx="2157984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 · 工程验证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7074" y="2212848"/>
            <a:ext cx="2157984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常泰长江大桥真实工程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15 个原创 bfa 参数化构件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233.6 MB P3D 工程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6226" y="2788920"/>
            <a:ext cx="338328" cy="274320"/>
          </a:xfrm>
          <a:prstGeom prst="rightArrow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83756" y="1417320"/>
            <a:ext cx="25603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84924" y="1627632"/>
            <a:ext cx="2157984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诊 · 智能诊断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3212" y="2212848"/>
            <a:ext cx="2157984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YOLOv8 + 免模型 CV 双模检测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Qwen-VL 大模型诊断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2D→3D 面投影定位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2364" y="2788920"/>
            <a:ext cx="338328" cy="274320"/>
          </a:xfrm>
          <a:prstGeom prst="rightArrow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19895" y="1417320"/>
            <a:ext cx="25603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21063" y="1627632"/>
            <a:ext cx="2157984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养 · 智慧养护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9351" y="2212848"/>
            <a:ext cx="2157984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尺寸量化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Word 巡检报告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数字孪生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数据归档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663440"/>
            <a:ext cx="8165592" cy="329184"/>
          </a:xfrm>
          <a:prstGeom prst="roundRect">
            <a:avLst>
              <a:gd name="adj" fmla="val 50000"/>
            </a:avLst>
          </a:prstGeom>
          <a:solidFill>
            <a:srgbClr val="CF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◀ 数据回流 · 闭环迭代 · 模型价值贯穿全生命周期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285232"/>
            <a:ext cx="11369009" cy="5303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F6CC6"/>
              </a:gs>
              <a:gs pos="100000">
                <a:srgbClr val="1487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技术底座：BIMBase 国产三维图形引擎 · pyp3d 参数化接口 · Python 插件体系</a:t>
            </a:r>
          </a:p>
        </p:txBody>
      </p:sp>
      <p:sp>
        <p:nvSpPr>
          <p:cNvPr id="24" name="Freeform 23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技术底座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国产引擎 × 人工智能 × 工程应用三层技术栈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98448"/>
            <a:ext cx="1920240" cy="13716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F6CC6"/>
              </a:gs>
              <a:gs pos="100000">
                <a:srgbClr val="1487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国产引擎层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298448"/>
            <a:ext cx="929030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24912" y="1499616"/>
            <a:ext cx="3332225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BIMBase（中国建筑科学研究院 / 构力科技）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3441" y="1499616"/>
            <a:ext cx="3797426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pyp3d 参数化建模接口（拉伸 / 放样 / 布尔 / 阵列）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34639"/>
            <a:ext cx="1920240" cy="13716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F6CC6"/>
              </a:gs>
              <a:gs pos="100000">
                <a:srgbClr val="1487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834639"/>
            <a:ext cx="929030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24912" y="3035808"/>
            <a:ext cx="1615313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YOLOv8 病害检测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6529" y="3035808"/>
            <a:ext cx="1855597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OpenCV 五路图像分析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8430" y="3035808"/>
            <a:ext cx="1791334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Qwen-VL 多模态诊断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6069" y="3035808"/>
            <a:ext cx="1567815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DeepSeek 大模型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188" y="3035808"/>
            <a:ext cx="1295400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百度语音识别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370831"/>
            <a:ext cx="1920240" cy="13716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F6CC6"/>
              </a:gs>
              <a:gs pos="100000">
                <a:srgbClr val="1487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87168" y="4370831"/>
            <a:ext cx="929030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24912" y="4571999"/>
            <a:ext cx="1500759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PyQt5 插件界面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1975" y="4571999"/>
            <a:ext cx="1894713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python-docx 报告生成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2992" y="4571999"/>
            <a:ext cx="2241169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ezdxf / PyMuPDF 图纸解析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0465" y="4571999"/>
            <a:ext cx="1404366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ODA DWG 转换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24912" y="5120639"/>
            <a:ext cx="1668399" cy="42062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9525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three.js 数字孪生</a:t>
            </a:r>
          </a:p>
        </p:txBody>
      </p:sp>
      <p:sp>
        <p:nvSpPr>
          <p:cNvPr id="25" name="Freeform 24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研究目标与思路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四大目标 · 一条主线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5532120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444752"/>
            <a:ext cx="420624" cy="420624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389888"/>
            <a:ext cx="4526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构建桥梁参数化构件库与 AI 建模能力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15+ 原创 bfa 构件，自然语言一键生成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25296"/>
            <a:ext cx="5532120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83096" y="1444752"/>
            <a:ext cx="420624" cy="420624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89888"/>
            <a:ext cx="4526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完成真实工程全桥搭建验证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常泰长江大桥：主跨 1176m 公铁双层斜拉桥，完整 P3D 工程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980944"/>
            <a:ext cx="5532120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" y="3200400"/>
            <a:ext cx="420624" cy="420624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145536"/>
            <a:ext cx="4526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实现病害智能检测与诊断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双模检测 + 大模型结构化诊断 + 尺寸量化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980944"/>
            <a:ext cx="5532120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3096" y="3200400"/>
            <a:ext cx="420624" cy="420624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145536"/>
            <a:ext cx="4526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打通“诊 → 养”闭环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2D→3D 面投影落位 + Word 报告 + 数字孪生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0" name="Chevron 19"/>
          <p:cNvSpPr/>
          <p:nvPr/>
        </p:nvSpPr>
        <p:spPr>
          <a:xfrm>
            <a:off x="411480" y="5212080"/>
            <a:ext cx="1700784" cy="56692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21" name="Chevron 20"/>
          <p:cNvSpPr/>
          <p:nvPr/>
        </p:nvSpPr>
        <p:spPr>
          <a:xfrm>
            <a:off x="2022652" y="5212080"/>
            <a:ext cx="1700784" cy="56692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构件库建设</a:t>
            </a:r>
          </a:p>
        </p:txBody>
      </p:sp>
      <p:sp>
        <p:nvSpPr>
          <p:cNvPr id="22" name="Chevron 21"/>
          <p:cNvSpPr/>
          <p:nvPr/>
        </p:nvSpPr>
        <p:spPr>
          <a:xfrm>
            <a:off x="3633825" y="5212080"/>
            <a:ext cx="1700784" cy="56692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建模研发</a:t>
            </a:r>
          </a:p>
        </p:txBody>
      </p:sp>
      <p:sp>
        <p:nvSpPr>
          <p:cNvPr id="23" name="Chevron 22"/>
          <p:cNvSpPr/>
          <p:nvPr/>
        </p:nvSpPr>
        <p:spPr>
          <a:xfrm>
            <a:off x="5244998" y="5212080"/>
            <a:ext cx="1700784" cy="56692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工程验证</a:t>
            </a:r>
          </a:p>
        </p:txBody>
      </p:sp>
      <p:sp>
        <p:nvSpPr>
          <p:cNvPr id="24" name="Chevron 23"/>
          <p:cNvSpPr/>
          <p:nvPr/>
        </p:nvSpPr>
        <p:spPr>
          <a:xfrm>
            <a:off x="6856171" y="5212080"/>
            <a:ext cx="1700784" cy="56692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病害识别</a:t>
            </a:r>
          </a:p>
        </p:txBody>
      </p:sp>
      <p:sp>
        <p:nvSpPr>
          <p:cNvPr id="25" name="Chevron 24"/>
          <p:cNvSpPr/>
          <p:nvPr/>
        </p:nvSpPr>
        <p:spPr>
          <a:xfrm>
            <a:off x="8467344" y="5212080"/>
            <a:ext cx="1700784" cy="56692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投影落位</a:t>
            </a:r>
          </a:p>
        </p:txBody>
      </p:sp>
      <p:sp>
        <p:nvSpPr>
          <p:cNvPr id="26" name="Chevron 25"/>
          <p:cNvSpPr/>
          <p:nvPr/>
        </p:nvSpPr>
        <p:spPr>
          <a:xfrm>
            <a:off x="10078516" y="5212080"/>
            <a:ext cx="1700784" cy="56692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报告闭环</a:t>
            </a:r>
          </a:p>
        </p:txBody>
      </p:sp>
      <p:sp>
        <p:nvSpPr>
          <p:cNvPr id="27" name="Freeform 26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智能建造 · 建 —— AI 智能建模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自然语言一句话 → BIMBase 参数化构件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690372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双路驱动：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本地中文解析器优先（897 行：汉字数字连读、全半角归一、单位换算、方向词映射），DeepSeek 大模型兜底（JSON 结构化输出）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七级兜底自动放置链：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破解 pyp3d“实体创建必须在交互回调链中”的限制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　　create_geometry → _PlaceToDirect → place_to → 坐标烘焙 → IFC/OBJ 文件导入 → SendInput 模拟交互 → 手动放置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阵列与沿路线布置：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线性 / 矩形 / 极坐标阵列；沿直线 / 折线 / 圆弧按弧长插值采样，构件自动沿切向“拐弯”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语音输入：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百度语音识别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43584"/>
            <a:ext cx="4279392" cy="4187952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AI 建模面板运行截图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（获取方式：BIMBase 内运行 AI 建模插件，自然语言生成构件后截图）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596128"/>
            <a:ext cx="11369009" cy="49377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示例：“沿路线每隔 50 米放一个门式桥墩” → 自动阵列布置</a:t>
            </a:r>
          </a:p>
        </p:txBody>
      </p:sp>
      <p:sp>
        <p:nvSpPr>
          <p:cNvPr id="10" name="Freeform 9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画板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智能建造 · 建 —— CAD 画板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内嵌 BIMBase 的 PyQt 参数化二维画板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6903720" cy="4937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A3 虚拟画布（420×297mm）：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35 个绘图 / 编辑 / 3D 命令，50 步撤销重做，端点 / 交点 / 中心点 / 垂足 / 网格 5 种吸附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画板 ↔ BIMBase 双向同步：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18 个 pyp3d Component 子类 + 多级放置策略链；“从 BIMBase 更新”框选回写（避免 1900+ 实例全场景扫描卡死）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面编辑创新：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面属性 ↔ 参数映射，编辑 diff 反推参数，批量重生成并同步 BIMBase 实体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图纸互通：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DWG / PDF 导入导出（ODA + ezdxf + PyMuPDF）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一键环境配置：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自动检测 BIMBase 路径、配置 VSCode、安装依赖、静默安装 ODA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43584"/>
            <a:ext cx="4279392" cy="484632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CAD 画板运行截图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（获取方式：速构智维插件内打开画板，绘制三视图后截图）</a:t>
            </a:r>
          </a:p>
        </p:txBody>
      </p:sp>
      <p:sp>
        <p:nvSpPr>
          <p:cNvPr id="9" name="Freeform 8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智能建造 · 建 —— 图纸识别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三视图 PDF / DXF 图纸 → 结构化参数 → 参数化构件自动生成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25296"/>
            <a:ext cx="11369009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双路混合识别：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本地规则解析（第一角投影三视图聚类，支持长方体 / 正方体 / 圆柱 / 球体 / 直角三棱柱）+ Qwen-VL 多模态识别（复杂构件参数提取）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模板匹配生成：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component_matcher 匹配构件模板 → 自动生成参数化 .py → 执行建模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已打通四大构件：</a:t>
            </a:r>
            <a:r>
              <a:rPr sz="1200" b="1">
                <a:solidFill>
                  <a:srgbClr val="FB9017"/>
                </a:solidFill>
                <a:latin typeface="微软雅黑"/>
                <a:ea typeface="微软雅黑"/>
                <a:cs typeface="微软雅黑"/>
              </a:rPr>
              <a:t>门式桥墩 / 引桥桥墩 / 索缆锚锭 / 承台及桩基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200400"/>
            <a:ext cx="5440680" cy="2889504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三视图图纸识别输入截图（PDF / DXF）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（获取方式：组件测试目录下 门式桥墩.dxf 等图纸打开截图）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3200400"/>
            <a:ext cx="5440680" cy="2889504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图纸 → 模型对照截图（识别生成的构件三维效果）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（获取方式：识别流程运行后，BIMBase 三维视图截图）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25312" y="4498848"/>
            <a:ext cx="365760" cy="310896"/>
          </a:xfrm>
          <a:prstGeom prst="rightArrow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参数化组件库 · 常泰长江大桥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15 个原创 bfa 参数化构件 · 3 大分类 · 总可调参数约 141 个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3630168" cy="3584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26464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上部结构（7）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3108960" cy="2697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主塔（21 参）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支座（14）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轨道底座（9）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斜拉索（8）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自密实混凝土层及隔离层（7）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侧面钢桁架（6）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工字钢梁（4）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25296"/>
            <a:ext cx="3630168" cy="3584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426464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下部结构（3）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2697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门式桥墩（11）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承台及桩基（9）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扩大基础（6）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225296"/>
            <a:ext cx="3630168" cy="3584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75904" y="1426464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附属设施（5+1）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1993392"/>
            <a:ext cx="3108960" cy="2697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接触网（16）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轨道（6）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路面及交通标线（6）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新泽西护栏（5）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防撞护栏（4）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铁路封闭网（7）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992624"/>
            <a:ext cx="690372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技术亮点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主塔多段变截面 Loft + 布尔减挖空；斜拉索截面分段自适应（数据量降约 62%）；桁架与接触网 Array 实例化排布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992624"/>
            <a:ext cx="4279392" cy="1152144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构件库面板截图或构件拼图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（获取方式：桥梁组件插件面板截图，或 15 个构件缩略图拼图）</a:t>
            </a:r>
          </a:p>
        </p:txBody>
      </p:sp>
      <p:sp>
        <p:nvSpPr>
          <p:cNvPr id="19" name="Freeform 18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参数化组件库 · 组件测试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按真实工程图纸逐构件参数化建模与健壮性检验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6812280" cy="4937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4 个基础几何体：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正方体 / 长方体 / 圆柱 / 直角三棱柱 —— 验证组件创建与放置流程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5 个工程构件（按真实图纸）：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　· 工字钢混凝土组合梁（加劲肋阵列）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　· 索缆锚锭（异形 Sweep + 7 对 14 根底柱）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　· 引桥桥墩（斜边盖梁 Sweep，按 6.22-A1.dwg 精确重建）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　· 门式桥墩（双变截面空心八边形，Loft + 布尔减兜底）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　　· 承台及桩基（锥形桩阵列）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DXF 图纸自动生成：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ezdxf 三视图布局，4 图层 + 自动线性标注，构件图纸一键出图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43584"/>
            <a:ext cx="4370832" cy="233172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构件三维效果截图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（获取方式：BIMBase 中运行组件测试构件（如门式桥墩）后三维视图截图）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749039"/>
            <a:ext cx="4370832" cy="233172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自动生成的 DXF 三视图图纸截图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（获取方式：运行 组件测试/生成承台及桩基图纸.py 等输出后用 CAD 软件打开截图）</a:t>
            </a:r>
          </a:p>
        </p:txBody>
      </p:sp>
      <p:sp>
        <p:nvSpPr>
          <p:cNvPr id="10" name="Freeform 9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工程验证 · 验 —— 常泰长江大桥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以 15 个参数化构件在国产 BIMBase 平台搭建完整桥梁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8064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463039"/>
            <a:ext cx="15544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常泰长江大桥 —— 主跨 1176m 双塔斜拉桥，塔高 352m，公铁双层（钢桁梁宽 39m）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926080"/>
            <a:ext cx="58064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3108960"/>
            <a:ext cx="15544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84448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233.6 MB 完整 P3D 工程文件，场景自洽、可流畅加载、可直接交付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572000"/>
            <a:ext cx="58064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4754880"/>
            <a:ext cx="15544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工程化能力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一键 pack_to_bfa 批量打包；组件库性能优化，独立为 v1.3.0 插件（上部 / 下部 / 附属 3 大分类面板）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280160"/>
            <a:ext cx="5285232" cy="4809744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常泰长江大桥 P3D 全景截图（建议标注：主塔 / 斜拉索 / 双层桥面 / 门式桥墩）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（获取方式：BIMBase 中打开 P3D文件/常泰长江大桥.p3d 截图）</a:t>
            </a:r>
          </a:p>
        </p:txBody>
      </p:sp>
      <p:sp>
        <p:nvSpPr>
          <p:cNvPr id="17" name="Freeform 16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智能诊断 · 诊 —— 病害智能检测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无人机巡检照片 → 智能检测（6 类病害）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25296"/>
            <a:ext cx="11369009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6+1 类病害：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裂缝 / 剥落 / 露筋 / 蜂窝麻面 / 渗水 / 锈蚀（+ 已修复）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模式一 · YOLOv8n 专用权重：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GPU / CPU 均可训练部署，实测 mAP50 ≈ 0.35（如实呈现，持续迭代优化）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FB9017"/>
                </a:solidFill>
                <a:latin typeface="微软雅黑"/>
                <a:ea typeface="微软雅黑"/>
                <a:cs typeface="微软雅黑"/>
              </a:rPr>
              <a:t>▪ 模式二 · 免模型五路 CV 融合（创新）：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黑帽变换 + 多尺度自适应阈值 + K-Means 颜色聚类 + 局部纹理标准差 + Canny 边缘密度，叠加 HSV 天空抑制与 NMS 去重 —— 无训练数据场景零门槛可用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310128"/>
            <a:ext cx="5440680" cy="2779776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YOLOv8 训练曲线 results.png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（获取方式：桥梁病害识别/training 或 models 目录下训练输出 results.png）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3310128"/>
            <a:ext cx="5440680" cy="2779776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验证集检测效果图 val_batch0_pred.jpg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（获取方式：桥梁病害识别/runs/detect/val 目录下验证集预测图）</a:t>
            </a:r>
          </a:p>
        </p:txBody>
      </p:sp>
      <p:sp>
        <p:nvSpPr>
          <p:cNvPr id="10" name="Freeform 9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智能诊断 · 诊 —— 数据集与大模型诊断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公开数据集 + 本地标注 + Qwen-VL 双图结构化诊断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25296"/>
            <a:ext cx="11369009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数据集：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GYU-DET 公开集 11,123 张 + CODEBRIM 1,022 张 + 本地巡检报告提取与人工标注（合并训练集约 700 张）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训练实测：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YOLOv8n · CPU 训练 · 两轮迭代（50 → 200 epochs 早停 121），mAP50 由 0.25 提升至 0.35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Qwen-VL 双图诊断：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原图 + 带框标注图双输入 → 严格 JSON 输出（病害类型 / 严重程度 / 位置 / 尺寸 / 诊断建议），三级容错解析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063240"/>
            <a:ext cx="3630168" cy="3035808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PR 曲线 BoxPR_curve.png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（获取方式：训练输出目录（runs/detect/val 或 training/runs）下）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3063240"/>
            <a:ext cx="3630168" cy="3035808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混淆矩阵 confusion_matrix.png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（获取方式：训练输出目录下归一化混淆矩阵图）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3063240"/>
            <a:ext cx="3630168" cy="3035808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AI 诊断返回截图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（获取方式：插件配置 DashScope API Key 后联网运行截图）</a:t>
            </a:r>
          </a:p>
        </p:txBody>
      </p:sp>
      <p:sp>
        <p:nvSpPr>
          <p:cNvPr id="11" name="Freeform 10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智能诊断 · 诊 —— 核心创新：2D→3D 解析式面投影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让病害精准“贴”到 BIM 真实构件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6903720" cy="4937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传统路线：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摄影测量 / 点云配准 —— 设备昂贵、流程重、基层难落地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FB9017"/>
                </a:solidFill>
                <a:latin typeface="微软雅黑"/>
                <a:ea typeface="微软雅黑"/>
                <a:cs typeface="微软雅黑"/>
              </a:rPr>
              <a:t>▪ 本项目轻量路线（创新）：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检测框 → 构件面中心 + 法向 + U/V 轴解析式等比投影；2mm 法向偏移防闪面；彩色点云 Combine 合成病害标记（按病害类型着色）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构件智能识别：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参数签名匹配覆盖 23 种构件类型；当前已注册柱式桥墩 / 引桥桥墩各 4 个可投影面，注册表机制可扩展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▪ 价值：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形成“看得见的病害档案”，为养护决策提供三维可视化依据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43584"/>
            <a:ext cx="4279392" cy="484632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病害投影前后对比截图（BIMBase 三维视图）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（获取方式：投影功能运行前后三维视图截图，左右拼版）</a:t>
            </a:r>
          </a:p>
        </p:txBody>
      </p:sp>
      <p:sp>
        <p:nvSpPr>
          <p:cNvPr id="9" name="Freeform 8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养护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智慧养护 · 养 —— 全链路闭环与数字孪生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从无人机巡检到 Word 报告归档，一键贯通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411480" y="1243584"/>
            <a:ext cx="1700784" cy="548640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无人机巡检</a:t>
            </a:r>
          </a:p>
        </p:txBody>
      </p:sp>
      <p:sp>
        <p:nvSpPr>
          <p:cNvPr id="8" name="Chevron 7"/>
          <p:cNvSpPr/>
          <p:nvPr/>
        </p:nvSpPr>
        <p:spPr>
          <a:xfrm>
            <a:off x="2022652" y="1243584"/>
            <a:ext cx="1700784" cy="548640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CV / YOLO 检测</a:t>
            </a:r>
          </a:p>
        </p:txBody>
      </p:sp>
      <p:sp>
        <p:nvSpPr>
          <p:cNvPr id="9" name="Chevron 8"/>
          <p:cNvSpPr/>
          <p:nvPr/>
        </p:nvSpPr>
        <p:spPr>
          <a:xfrm>
            <a:off x="3633825" y="1243584"/>
            <a:ext cx="1700784" cy="548640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Qwen-VL 诊断</a:t>
            </a:r>
          </a:p>
        </p:txBody>
      </p:sp>
      <p:sp>
        <p:nvSpPr>
          <p:cNvPr id="10" name="Chevron 9"/>
          <p:cNvSpPr/>
          <p:nvPr/>
        </p:nvSpPr>
        <p:spPr>
          <a:xfrm>
            <a:off x="5244998" y="1243584"/>
            <a:ext cx="1700784" cy="548640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尺寸量化</a:t>
            </a:r>
          </a:p>
        </p:txBody>
      </p:sp>
      <p:sp>
        <p:nvSpPr>
          <p:cNvPr id="11" name="Chevron 10"/>
          <p:cNvSpPr/>
          <p:nvPr/>
        </p:nvSpPr>
        <p:spPr>
          <a:xfrm>
            <a:off x="6856171" y="1243584"/>
            <a:ext cx="1700784" cy="548640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面投影定位</a:t>
            </a:r>
          </a:p>
        </p:txBody>
      </p:sp>
      <p:sp>
        <p:nvSpPr>
          <p:cNvPr id="12" name="Chevron 11"/>
          <p:cNvSpPr/>
          <p:nvPr/>
        </p:nvSpPr>
        <p:spPr>
          <a:xfrm>
            <a:off x="8467344" y="1243584"/>
            <a:ext cx="1700784" cy="548640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Word 报告</a:t>
            </a:r>
          </a:p>
        </p:txBody>
      </p:sp>
      <p:sp>
        <p:nvSpPr>
          <p:cNvPr id="13" name="Chevron 12"/>
          <p:cNvSpPr/>
          <p:nvPr/>
        </p:nvSpPr>
        <p:spPr>
          <a:xfrm>
            <a:off x="10078516" y="1243584"/>
            <a:ext cx="1700784" cy="548640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数字孪生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066543"/>
            <a:ext cx="363016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267712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尺寸量化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52928"/>
            <a:ext cx="308152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参照物框选标定，病害长 / 宽 / 面积自动换算（误差来源已在报告中说明）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066543"/>
            <a:ext cx="363016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7992" y="2267712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Word 报告（python-docx）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852928"/>
            <a:ext cx="308152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项目概况、构件病害统计表、病害详图（含带框照片）、分档处理建议，可直接归档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066543"/>
            <a:ext cx="363016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75904" y="2267712"/>
            <a:ext cx="3172968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数字孪生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852928"/>
            <a:ext cx="308152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一键导出 JSON 数据包 + 离线单文件 HTML（three.js），病害三维分布浏览器直达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791456"/>
            <a:ext cx="5440680" cy="1316736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Word 巡检报告截图（含统计表与病害详图页）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（获取方式：生成的 docx 报告打开后截图（两页拼版））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4791456"/>
            <a:ext cx="5440680" cy="1316736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【配图线索】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数字孪生界面截图（病害三维分布视图）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（获取方式：浏览器打开导出的单文件 HTML 后截图）</a:t>
            </a:r>
          </a:p>
        </p:txBody>
      </p:sp>
      <p:sp>
        <p:nvSpPr>
          <p:cNvPr id="25" name="Freeform 24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数据参考源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数据按需使用，全程服务于建模训练与验证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08792" cy="2724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148072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数据类型</a:t>
                      </a:r>
                    </a:p>
                  </a:txBody>
                  <a:tcPr anchor="ctr" marL="137160" marR="73152" marT="18288" marB="18288">
                    <a:solidFill>
                      <a:srgbClr val="0F6C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主要内容</a:t>
                      </a:r>
                    </a:p>
                  </a:txBody>
                  <a:tcPr anchor="ctr" marL="137160" marR="73152" marT="18288" marB="18288">
                    <a:solidFill>
                      <a:srgbClr val="0F6C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anchor="ctr" marL="137160" marR="73152" marT="18288" marB="18288">
                    <a:solidFill>
                      <a:srgbClr val="0F6CC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6CC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真实工程图纸</a:t>
                      </a:r>
                    </a:p>
                  </a:txBody>
                  <a:tcPr anchor="ctr" marL="13716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承台及桩基 / 门式桥墩 / 索缆锚锭 / 引桥桥墩 DWG</a:t>
                      </a:r>
                    </a:p>
                  </a:txBody>
                  <a:tcPr anchor="ctr" marL="13716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构件参数化建模依据</a:t>
                      </a:r>
                    </a:p>
                  </a:txBody>
                  <a:tcPr anchor="ctr" marL="137160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6CC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设计文件与论文</a:t>
                      </a:r>
                    </a:p>
                  </a:txBody>
                  <a:tcPr anchor="ctr" marL="137160" marR="73152" marT="18288" marB="18288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桥梁设计分册 docx · 参考论文 PDF</a:t>
                      </a:r>
                    </a:p>
                  </a:txBody>
                  <a:tcPr anchor="ctr" marL="137160" marR="73152" marT="18288" marB="18288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构件尺寸与构造参考</a:t>
                      </a:r>
                    </a:p>
                  </a:txBody>
                  <a:tcPr anchor="ctr" marL="137160" marR="73152" marT="18288" marB="18288"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6CC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曲线数据</a:t>
                      </a:r>
                    </a:p>
                  </a:txBody>
                  <a:tcPr anchor="ctr" marL="13716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圆柱 / 平面 / 竖直曲线 Excel</a:t>
                      </a:r>
                    </a:p>
                  </a:txBody>
                  <a:tcPr anchor="ctr" marL="13716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数据驱动建模</a:t>
                      </a:r>
                    </a:p>
                  </a:txBody>
                  <a:tcPr anchor="ctr" marL="137160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6CC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病害数据集</a:t>
                      </a:r>
                    </a:p>
                  </a:txBody>
                  <a:tcPr anchor="ctr" marL="137160" marR="73152" marT="18288" marB="18288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GYU-DET · CODEBRIM · 本地标注</a:t>
                      </a:r>
                    </a:p>
                  </a:txBody>
                  <a:tcPr anchor="ctr" marL="137160" marR="73152" marT="18288" marB="18288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模型训练与验证</a:t>
                      </a:r>
                    </a:p>
                  </a:txBody>
                  <a:tcPr anchor="ctr" marL="137160" marR="73152" marT="18288" marB="18288"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4754880"/>
            <a:ext cx="11369009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F6CC6"/>
              </a:gs>
              <a:gs pos="100000">
                <a:srgbClr val="1487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原则：数据按需使用，服务于建模、训练与验证，不作他用</a:t>
            </a:r>
          </a:p>
        </p:txBody>
      </p:sp>
      <p:sp>
        <p:nvSpPr>
          <p:cNvPr id="9" name="Freeform 8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项目特色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五大特色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98448"/>
            <a:ext cx="363016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26464"/>
            <a:ext cx="868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16764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国产引擎全栈自主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BIMBase + Python 插件体系，摆脱国外平台依赖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298448"/>
            <a:ext cx="363016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426464"/>
            <a:ext cx="868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499616"/>
            <a:ext cx="16764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双模检测互为补充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03120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YOLO 专用权重 + 免模型 CV 融合，有 / 无训练数据皆可用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298448"/>
            <a:ext cx="363016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53344" y="1426464"/>
            <a:ext cx="868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1499616"/>
            <a:ext cx="21336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大模型与确定性规则协同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103120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本地解析器优先、大模型兜底；关键计算不交模型自由发挥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6292" y="3712463"/>
            <a:ext cx="363016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2332" y="3840479"/>
            <a:ext cx="868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4892" y="3913631"/>
            <a:ext cx="1822704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轻量级 2D→3D 投影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0612" y="4517136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解析式面投影替代摄影测量，普通无人机 + 笔记本即可落地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204" y="3712463"/>
            <a:ext cx="363016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10244" y="3840479"/>
            <a:ext cx="868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9FCEF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32804" y="3913631"/>
            <a:ext cx="2075688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建-验-诊-养全生命周期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524" y="4517136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建造模型即养护数据载体，模型价值贯穿桥梁全生命周期</a:t>
            </a:r>
          </a:p>
        </p:txBody>
      </p:sp>
      <p:sp>
        <p:nvSpPr>
          <p:cNvPr id="27" name="Freeform 26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创新点总结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六项核心创新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36301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444751"/>
            <a:ext cx="457200" cy="457200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8132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平台空档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48255"/>
            <a:ext cx="31089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首个基于国产 BIMBase 的桥梁病害识别 — BIM 投影闭环（现有成果多基于 Revit / IFC）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261872"/>
            <a:ext cx="36301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7992" y="1444751"/>
            <a:ext cx="457200" cy="457200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148132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免模型检测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5"/>
            <a:ext cx="31089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五路 CV 掩码融合，零训练数据门槛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261872"/>
            <a:ext cx="36301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75904" y="1444751"/>
            <a:ext cx="457200" cy="457200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4" y="148132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多模态诊断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048255"/>
            <a:ext cx="31089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Qwen-VL 双图输入，六字段结构化输出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57600"/>
            <a:ext cx="36301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77056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轻量投影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43984"/>
            <a:ext cx="31089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解析式面投影 + 点云标记，2mm 防闪面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3657600"/>
            <a:ext cx="36301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07992" y="3840480"/>
            <a:ext cx="457200" cy="457200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3877056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自然语言建模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443984"/>
            <a:ext cx="31089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897 行本地中文解析器 + 七级兜底放置链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4" y="3657600"/>
            <a:ext cx="36301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75904" y="3840480"/>
            <a:ext cx="457200" cy="457200"/>
          </a:xfrm>
          <a:prstGeom prst="ellipse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0264" y="3877056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工程实证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443984"/>
            <a:ext cx="31089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15 个原创 bfa 构件 + 主跨 1176m 常泰长江大桥整桥 P3D 验证</a:t>
            </a:r>
          </a:p>
        </p:txBody>
      </p:sp>
      <p:sp>
        <p:nvSpPr>
          <p:cNvPr id="31" name="Freeform 30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产业价值与推广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战略契合 · 生态协同 · 落地路径清晰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99032"/>
            <a:ext cx="173736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战略契合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交通强国、基础设施智慧运维、国产软件自主可控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25296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3096" y="1399032"/>
            <a:ext cx="173736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生态协同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883664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与 PKPM / BIMBase 系列软件深度结合，共建国产 BIM 插件生态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74320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" y="2916936"/>
            <a:ext cx="173736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落地门槛低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普通无人机 + 笔记本即可部署，适合基层管养单位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74320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83096" y="2916936"/>
            <a:ext cx="173736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可持续演进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401568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病害样本持续积累 → 模型迭代 → 构件库扩展，形成数据飞轮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8912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推广路径</a:t>
            </a:r>
          </a:p>
        </p:txBody>
      </p:sp>
      <p:sp>
        <p:nvSpPr>
          <p:cNvPr id="20" name="Chevron 19"/>
          <p:cNvSpPr/>
          <p:nvPr/>
        </p:nvSpPr>
        <p:spPr>
          <a:xfrm>
            <a:off x="411480" y="4754880"/>
            <a:ext cx="3794760" cy="65836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设计院（AI 智能建模）</a:t>
            </a:r>
          </a:p>
        </p:txBody>
      </p:sp>
      <p:sp>
        <p:nvSpPr>
          <p:cNvPr id="21" name="Chevron 20"/>
          <p:cNvSpPr/>
          <p:nvPr/>
        </p:nvSpPr>
        <p:spPr>
          <a:xfrm>
            <a:off x="4069080" y="4754880"/>
            <a:ext cx="3794760" cy="65836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施工单位（图纸识别）</a:t>
            </a:r>
          </a:p>
        </p:txBody>
      </p:sp>
      <p:sp>
        <p:nvSpPr>
          <p:cNvPr id="22" name="Chevron 21"/>
          <p:cNvSpPr/>
          <p:nvPr/>
        </p:nvSpPr>
        <p:spPr>
          <a:xfrm>
            <a:off x="7726679" y="4754880"/>
            <a:ext cx="3794760" cy="658368"/>
          </a:xfrm>
          <a:prstGeom prst="chevron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管养单位（巡检闭环）</a:t>
            </a:r>
          </a:p>
        </p:txBody>
      </p:sp>
      <p:sp>
        <p:nvSpPr>
          <p:cNvPr id="23" name="Freeform 22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457200" cy="457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6304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团队介绍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694944"/>
            <a:ext cx="106070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分工明确 · 产教协同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69009" cy="32004"/>
          </a:xfrm>
          <a:prstGeom prst="rect">
            <a:avLst/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2724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44752"/>
            <a:ext cx="1528572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成员 A（队长）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777240" cy="2084831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2048256"/>
            <a:ext cx="1572768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统筹规划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项目管理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文档撰写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3675887"/>
            <a:ext cx="159105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【姓名 / 专业待填写】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261872"/>
            <a:ext cx="2724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444752"/>
            <a:ext cx="918971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成员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993392"/>
            <a:ext cx="777240" cy="2084831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048256"/>
            <a:ext cx="1572768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BIMBase 插件开发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参数化构件库建设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3675887"/>
            <a:ext cx="159105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【姓名 / 专业待填写】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61872"/>
            <a:ext cx="2724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444752"/>
            <a:ext cx="918971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成员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993392"/>
            <a:ext cx="777240" cy="2084831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048256"/>
            <a:ext cx="1572768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病害识别算法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数据集建设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模型训练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3675887"/>
            <a:ext cx="159105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【姓名 / 专业待填写】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261872"/>
            <a:ext cx="2724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39" y="1444752"/>
            <a:ext cx="918971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成员 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39" y="1993392"/>
            <a:ext cx="777240" cy="2084831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3" y="2048256"/>
            <a:ext cx="1572768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工程验证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答辩素材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3" y="3675887"/>
            <a:ext cx="159105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【姓名 / 专业待填写】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553712"/>
            <a:ext cx="11369009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9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727448"/>
            <a:ext cx="86868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3080" y="4773168"/>
            <a:ext cx="14630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87F0"/>
              </a:gs>
              <a:gs pos="100000">
                <a:srgbClr val="0ACBF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指导教师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773168"/>
            <a:ext cx="813816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【姓名 / 职称 / 研究方向待填写】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产教协同 · 联合指导 · 全程把关</a:t>
            </a:r>
          </a:p>
        </p:txBody>
      </p:sp>
      <p:sp>
        <p:nvSpPr>
          <p:cNvPr id="31" name="Freeform 30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5FAFF"/>
              </a:gs>
              <a:gs pos="100000">
                <a:srgbClr val="DCEE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0F6CC6"/>
                </a:solidFill>
                <a:latin typeface="微软雅黑"/>
                <a:ea typeface="微软雅黑"/>
                <a:cs typeface="微软雅黑"/>
              </a:rPr>
              <a:t>让每一座桥梁，建得更快、养得更智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487F0"/>
                </a:solidFill>
                <a:latin typeface="微软雅黑"/>
                <a:ea typeface="微软雅黑"/>
                <a:cs typeface="微软雅黑"/>
              </a:rPr>
              <a:t>以国产引擎筑基，以人工智能赋能 —— 桥元智构，服务桥梁全生命周期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感谢发榜单位中国建筑科学研究院有限公司与各位评审专家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7F9FBF"/>
                </a:solidFill>
                <a:latin typeface="微软雅黑"/>
                <a:ea typeface="微软雅黑"/>
                <a:cs typeface="微软雅黑"/>
              </a:rPr>
              <a:t>团队联系方式：____________（待填写）</a:t>
            </a:r>
          </a:p>
        </p:txBody>
      </p:sp>
      <p:sp>
        <p:nvSpPr>
          <p:cNvPr id="7" name="Freeform 6"/>
          <p:cNvSpPr/>
          <p:nvPr/>
        </p:nvSpPr>
        <p:spPr>
          <a:xfrm>
            <a:off x="0" y="6304820"/>
            <a:ext cx="12192000" cy="553180"/>
          </a:xfrm>
          <a:custGeom>
            <a:avLst/>
            <a:gdLst/>
            <a:ahLst/>
            <a:cxnLst/>
            <a:rect l="l" t="t" r="r" b="b"/>
            <a:pathLst>
              <a:path w="12192000" h="553180">
                <a:moveTo>
                  <a:pt x="0" y="43697"/>
                </a:moveTo>
                <a:lnTo>
                  <a:pt x="169332" y="53735"/>
                </a:lnTo>
                <a:lnTo>
                  <a:pt x="338665" y="64120"/>
                </a:lnTo>
                <a:lnTo>
                  <a:pt x="507998" y="74609"/>
                </a:lnTo>
                <a:lnTo>
                  <a:pt x="677331" y="84956"/>
                </a:lnTo>
                <a:lnTo>
                  <a:pt x="846664" y="94918"/>
                </a:lnTo>
                <a:lnTo>
                  <a:pt x="1015997" y="104264"/>
                </a:lnTo>
                <a:lnTo>
                  <a:pt x="1185330" y="112775"/>
                </a:lnTo>
                <a:lnTo>
                  <a:pt x="1354663" y="120251"/>
                </a:lnTo>
                <a:lnTo>
                  <a:pt x="1523996" y="126517"/>
                </a:lnTo>
                <a:lnTo>
                  <a:pt x="1693329" y="131427"/>
                </a:lnTo>
                <a:lnTo>
                  <a:pt x="1862662" y="134866"/>
                </a:lnTo>
                <a:lnTo>
                  <a:pt x="2031994" y="136754"/>
                </a:lnTo>
                <a:lnTo>
                  <a:pt x="2201327" y="137046"/>
                </a:lnTo>
                <a:lnTo>
                  <a:pt x="2370660" y="135736"/>
                </a:lnTo>
                <a:lnTo>
                  <a:pt x="2539993" y="132854"/>
                </a:lnTo>
                <a:lnTo>
                  <a:pt x="2709326" y="128468"/>
                </a:lnTo>
                <a:lnTo>
                  <a:pt x="2878659" y="122680"/>
                </a:lnTo>
                <a:lnTo>
                  <a:pt x="3047992" y="115625"/>
                </a:lnTo>
                <a:lnTo>
                  <a:pt x="3217325" y="107469"/>
                </a:lnTo>
                <a:lnTo>
                  <a:pt x="3386658" y="98403"/>
                </a:lnTo>
                <a:lnTo>
                  <a:pt x="3555991" y="88638"/>
                </a:lnTo>
                <a:lnTo>
                  <a:pt x="3725324" y="78404"/>
                </a:lnTo>
                <a:lnTo>
                  <a:pt x="3894656" y="67938"/>
                </a:lnTo>
                <a:lnTo>
                  <a:pt x="4063989" y="57487"/>
                </a:lnTo>
                <a:lnTo>
                  <a:pt x="4233322" y="47295"/>
                </a:lnTo>
                <a:lnTo>
                  <a:pt x="4402655" y="37600"/>
                </a:lnTo>
                <a:lnTo>
                  <a:pt x="4571988" y="28629"/>
                </a:lnTo>
                <a:lnTo>
                  <a:pt x="4741321" y="20592"/>
                </a:lnTo>
                <a:lnTo>
                  <a:pt x="4910654" y="13676"/>
                </a:lnTo>
                <a:lnTo>
                  <a:pt x="5079987" y="8044"/>
                </a:lnTo>
                <a:lnTo>
                  <a:pt x="5249320" y="3828"/>
                </a:lnTo>
                <a:lnTo>
                  <a:pt x="5418653" y="1125"/>
                </a:lnTo>
                <a:lnTo>
                  <a:pt x="5587986" y="0"/>
                </a:lnTo>
                <a:lnTo>
                  <a:pt x="5757318" y="479"/>
                </a:lnTo>
                <a:lnTo>
                  <a:pt x="5926651" y="2549"/>
                </a:lnTo>
                <a:lnTo>
                  <a:pt x="6095984" y="6164"/>
                </a:lnTo>
                <a:lnTo>
                  <a:pt x="6265317" y="11238"/>
                </a:lnTo>
                <a:lnTo>
                  <a:pt x="6434650" y="17653"/>
                </a:lnTo>
                <a:lnTo>
                  <a:pt x="6603983" y="25258"/>
                </a:lnTo>
                <a:lnTo>
                  <a:pt x="6773316" y="33876"/>
                </a:lnTo>
                <a:lnTo>
                  <a:pt x="6942649" y="43305"/>
                </a:lnTo>
                <a:lnTo>
                  <a:pt x="7111982" y="53325"/>
                </a:lnTo>
                <a:lnTo>
                  <a:pt x="7281315" y="63700"/>
                </a:lnTo>
                <a:lnTo>
                  <a:pt x="7450648" y="74189"/>
                </a:lnTo>
                <a:lnTo>
                  <a:pt x="7619980" y="84546"/>
                </a:lnTo>
                <a:lnTo>
                  <a:pt x="7789313" y="94529"/>
                </a:lnTo>
                <a:lnTo>
                  <a:pt x="7958646" y="103904"/>
                </a:lnTo>
                <a:lnTo>
                  <a:pt x="8127979" y="112452"/>
                </a:lnTo>
                <a:lnTo>
                  <a:pt x="8297312" y="119973"/>
                </a:lnTo>
                <a:lnTo>
                  <a:pt x="8466645" y="126291"/>
                </a:lnTo>
                <a:lnTo>
                  <a:pt x="8635978" y="131258"/>
                </a:lnTo>
                <a:lnTo>
                  <a:pt x="8805311" y="134758"/>
                </a:lnTo>
                <a:lnTo>
                  <a:pt x="8974644" y="136709"/>
                </a:lnTo>
                <a:lnTo>
                  <a:pt x="9143977" y="137065"/>
                </a:lnTo>
                <a:lnTo>
                  <a:pt x="9313310" y="135819"/>
                </a:lnTo>
                <a:lnTo>
                  <a:pt x="9482642" y="132999"/>
                </a:lnTo>
                <a:lnTo>
                  <a:pt x="9651975" y="128671"/>
                </a:lnTo>
                <a:lnTo>
                  <a:pt x="9821308" y="122937"/>
                </a:lnTo>
                <a:lnTo>
                  <a:pt x="9990641" y="115930"/>
                </a:lnTo>
                <a:lnTo>
                  <a:pt x="10159974" y="107815"/>
                </a:lnTo>
                <a:lnTo>
                  <a:pt x="10329307" y="98782"/>
                </a:lnTo>
                <a:lnTo>
                  <a:pt x="10498640" y="89041"/>
                </a:lnTo>
                <a:lnTo>
                  <a:pt x="10667973" y="78820"/>
                </a:lnTo>
                <a:lnTo>
                  <a:pt x="10837306" y="68360"/>
                </a:lnTo>
                <a:lnTo>
                  <a:pt x="11006639" y="57903"/>
                </a:lnTo>
                <a:lnTo>
                  <a:pt x="11175972" y="47696"/>
                </a:lnTo>
                <a:lnTo>
                  <a:pt x="11345304" y="37976"/>
                </a:lnTo>
                <a:lnTo>
                  <a:pt x="11514637" y="28972"/>
                </a:lnTo>
                <a:lnTo>
                  <a:pt x="11683970" y="20894"/>
                </a:lnTo>
                <a:lnTo>
                  <a:pt x="11853303" y="13930"/>
                </a:lnTo>
                <a:lnTo>
                  <a:pt x="12022636" y="8244"/>
                </a:lnTo>
                <a:lnTo>
                  <a:pt x="12191969" y="3968"/>
                </a:lnTo>
                <a:lnTo>
                  <a:pt x="12192000" y="553180"/>
                </a:lnTo>
                <a:lnTo>
                  <a:pt x="0" y="553180"/>
                </a:lnTo>
                <a:close/>
              </a:path>
            </a:pathLst>
          </a:custGeom>
          <a:solidFill>
            <a:srgbClr val="A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0" y="6410031"/>
            <a:ext cx="12192000" cy="447969"/>
          </a:xfrm>
          <a:custGeom>
            <a:avLst/>
            <a:gdLst/>
            <a:ahLst/>
            <a:cxnLst/>
            <a:rect l="l" t="t" r="r" b="b"/>
            <a:pathLst>
              <a:path w="12192000" h="447969">
                <a:moveTo>
                  <a:pt x="0" y="135748"/>
                </a:moveTo>
                <a:lnTo>
                  <a:pt x="169332" y="142456"/>
                </a:lnTo>
                <a:lnTo>
                  <a:pt x="338665" y="145832"/>
                </a:lnTo>
                <a:lnTo>
                  <a:pt x="507998" y="145716"/>
                </a:lnTo>
                <a:lnTo>
                  <a:pt x="677331" y="142112"/>
                </a:lnTo>
                <a:lnTo>
                  <a:pt x="846664" y="135194"/>
                </a:lnTo>
                <a:lnTo>
                  <a:pt x="1015997" y="125293"/>
                </a:lnTo>
                <a:lnTo>
                  <a:pt x="1185330" y="112885"/>
                </a:lnTo>
                <a:lnTo>
                  <a:pt x="1354663" y="98566"/>
                </a:lnTo>
                <a:lnTo>
                  <a:pt x="1523996" y="83022"/>
                </a:lnTo>
                <a:lnTo>
                  <a:pt x="1693329" y="67001"/>
                </a:lnTo>
                <a:lnTo>
                  <a:pt x="1862662" y="51270"/>
                </a:lnTo>
                <a:lnTo>
                  <a:pt x="2031994" y="36586"/>
                </a:lnTo>
                <a:lnTo>
                  <a:pt x="2201327" y="23653"/>
                </a:lnTo>
                <a:lnTo>
                  <a:pt x="2370660" y="13091"/>
                </a:lnTo>
                <a:lnTo>
                  <a:pt x="2539993" y="5409"/>
                </a:lnTo>
                <a:lnTo>
                  <a:pt x="2709326" y="974"/>
                </a:lnTo>
                <a:lnTo>
                  <a:pt x="2878659" y="0"/>
                </a:lnTo>
                <a:lnTo>
                  <a:pt x="3047992" y="2533"/>
                </a:lnTo>
                <a:lnTo>
                  <a:pt x="3217325" y="8452"/>
                </a:lnTo>
                <a:lnTo>
                  <a:pt x="3386658" y="17473"/>
                </a:lnTo>
                <a:lnTo>
                  <a:pt x="3555991" y="29162"/>
                </a:lnTo>
                <a:lnTo>
                  <a:pt x="3725324" y="42959"/>
                </a:lnTo>
                <a:lnTo>
                  <a:pt x="3894656" y="58201"/>
                </a:lnTo>
                <a:lnTo>
                  <a:pt x="4063989" y="74156"/>
                </a:lnTo>
                <a:lnTo>
                  <a:pt x="4233322" y="90059"/>
                </a:lnTo>
                <a:lnTo>
                  <a:pt x="4402655" y="105146"/>
                </a:lnTo>
                <a:lnTo>
                  <a:pt x="4571988" y="118693"/>
                </a:lnTo>
                <a:lnTo>
                  <a:pt x="4741321" y="130050"/>
                </a:lnTo>
                <a:lnTo>
                  <a:pt x="4910654" y="138671"/>
                </a:lnTo>
                <a:lnTo>
                  <a:pt x="5079987" y="144143"/>
                </a:lnTo>
                <a:lnTo>
                  <a:pt x="5249320" y="146203"/>
                </a:lnTo>
                <a:lnTo>
                  <a:pt x="5418653" y="144752"/>
                </a:lnTo>
                <a:lnTo>
                  <a:pt x="5587986" y="139860"/>
                </a:lnTo>
                <a:lnTo>
                  <a:pt x="5757318" y="131761"/>
                </a:lnTo>
                <a:lnTo>
                  <a:pt x="5926651" y="120845"/>
                </a:lnTo>
                <a:lnTo>
                  <a:pt x="6095984" y="107635"/>
                </a:lnTo>
                <a:lnTo>
                  <a:pt x="6265317" y="92765"/>
                </a:lnTo>
                <a:lnTo>
                  <a:pt x="6434650" y="76950"/>
                </a:lnTo>
                <a:lnTo>
                  <a:pt x="6603983" y="60948"/>
                </a:lnTo>
                <a:lnTo>
                  <a:pt x="6773316" y="45528"/>
                </a:lnTo>
                <a:lnTo>
                  <a:pt x="6942649" y="31430"/>
                </a:lnTo>
                <a:lnTo>
                  <a:pt x="7111982" y="19330"/>
                </a:lnTo>
                <a:lnTo>
                  <a:pt x="7281315" y="9810"/>
                </a:lnTo>
                <a:lnTo>
                  <a:pt x="7450648" y="3326"/>
                </a:lnTo>
                <a:lnTo>
                  <a:pt x="7619980" y="190"/>
                </a:lnTo>
                <a:lnTo>
                  <a:pt x="7789313" y="552"/>
                </a:lnTo>
                <a:lnTo>
                  <a:pt x="7958646" y="4395"/>
                </a:lnTo>
                <a:lnTo>
                  <a:pt x="8127979" y="11535"/>
                </a:lnTo>
                <a:lnTo>
                  <a:pt x="8297312" y="21628"/>
                </a:lnTo>
                <a:lnTo>
                  <a:pt x="8466645" y="34190"/>
                </a:lnTo>
                <a:lnTo>
                  <a:pt x="8635978" y="48618"/>
                </a:lnTo>
                <a:lnTo>
                  <a:pt x="8805311" y="64220"/>
                </a:lnTo>
                <a:lnTo>
                  <a:pt x="8974644" y="80246"/>
                </a:lnTo>
                <a:lnTo>
                  <a:pt x="9143977" y="95928"/>
                </a:lnTo>
                <a:lnTo>
                  <a:pt x="9313310" y="110512"/>
                </a:lnTo>
                <a:lnTo>
                  <a:pt x="9482642" y="123298"/>
                </a:lnTo>
                <a:lnTo>
                  <a:pt x="9651975" y="133673"/>
                </a:lnTo>
                <a:lnTo>
                  <a:pt x="9821308" y="141139"/>
                </a:lnTo>
                <a:lnTo>
                  <a:pt x="9990641" y="145337"/>
                </a:lnTo>
                <a:lnTo>
                  <a:pt x="10159974" y="146065"/>
                </a:lnTo>
                <a:lnTo>
                  <a:pt x="10329307" y="143290"/>
                </a:lnTo>
                <a:lnTo>
                  <a:pt x="10498640" y="137143"/>
                </a:lnTo>
                <a:lnTo>
                  <a:pt x="10667973" y="127920"/>
                </a:lnTo>
                <a:lnTo>
                  <a:pt x="10837306" y="116064"/>
                </a:lnTo>
                <a:lnTo>
                  <a:pt x="11006639" y="102144"/>
                </a:lnTo>
                <a:lnTo>
                  <a:pt x="11175972" y="86827"/>
                </a:lnTo>
                <a:lnTo>
                  <a:pt x="11345304" y="70851"/>
                </a:lnTo>
                <a:lnTo>
                  <a:pt x="11514637" y="54980"/>
                </a:lnTo>
                <a:lnTo>
                  <a:pt x="11683970" y="39978"/>
                </a:lnTo>
                <a:lnTo>
                  <a:pt x="11853303" y="26564"/>
                </a:lnTo>
                <a:lnTo>
                  <a:pt x="12022636" y="15382"/>
                </a:lnTo>
                <a:lnTo>
                  <a:pt x="12191969" y="6969"/>
                </a:lnTo>
                <a:lnTo>
                  <a:pt x="12192000" y="447969"/>
                </a:lnTo>
                <a:lnTo>
                  <a:pt x="0" y="447969"/>
                </a:lnTo>
                <a:close/>
              </a:path>
            </a:pathLst>
          </a:custGeom>
          <a:solidFill>
            <a:srgbClr val="0AC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0" y="6547104"/>
            <a:ext cx="12192000" cy="310896"/>
          </a:xfrm>
          <a:custGeom>
            <a:avLst/>
            <a:gdLst/>
            <a:ahLst/>
            <a:cxnLst/>
            <a:rect l="l" t="t" r="r" b="b"/>
            <a:pathLst>
              <a:path w="12192000" h="310896">
                <a:moveTo>
                  <a:pt x="0" y="0"/>
                </a:moveTo>
                <a:lnTo>
                  <a:pt x="169332" y="1062"/>
                </a:lnTo>
                <a:lnTo>
                  <a:pt x="338665" y="4218"/>
                </a:lnTo>
                <a:lnTo>
                  <a:pt x="507998" y="9370"/>
                </a:lnTo>
                <a:lnTo>
                  <a:pt x="677331" y="16356"/>
                </a:lnTo>
                <a:lnTo>
                  <a:pt x="846664" y="24962"/>
                </a:lnTo>
                <a:lnTo>
                  <a:pt x="1015997" y="34919"/>
                </a:lnTo>
                <a:lnTo>
                  <a:pt x="1185330" y="45921"/>
                </a:lnTo>
                <a:lnTo>
                  <a:pt x="1354663" y="57624"/>
                </a:lnTo>
                <a:lnTo>
                  <a:pt x="1523996" y="69667"/>
                </a:lnTo>
                <a:lnTo>
                  <a:pt x="1693329" y="81677"/>
                </a:lnTo>
                <a:lnTo>
                  <a:pt x="1862662" y="93280"/>
                </a:lnTo>
                <a:lnTo>
                  <a:pt x="2031994" y="104118"/>
                </a:lnTo>
                <a:lnTo>
                  <a:pt x="2201327" y="113854"/>
                </a:lnTo>
                <a:lnTo>
                  <a:pt x="2370660" y="122186"/>
                </a:lnTo>
                <a:lnTo>
                  <a:pt x="2539993" y="128857"/>
                </a:lnTo>
                <a:lnTo>
                  <a:pt x="2709326" y="133659"/>
                </a:lnTo>
                <a:lnTo>
                  <a:pt x="2878659" y="136444"/>
                </a:lnTo>
                <a:lnTo>
                  <a:pt x="3047992" y="137125"/>
                </a:lnTo>
                <a:lnTo>
                  <a:pt x="3217325" y="135681"/>
                </a:lnTo>
                <a:lnTo>
                  <a:pt x="3386658" y="132157"/>
                </a:lnTo>
                <a:lnTo>
                  <a:pt x="3555991" y="126662"/>
                </a:lnTo>
                <a:lnTo>
                  <a:pt x="3725324" y="119366"/>
                </a:lnTo>
                <a:lnTo>
                  <a:pt x="3894656" y="110497"/>
                </a:lnTo>
                <a:lnTo>
                  <a:pt x="4063989" y="100327"/>
                </a:lnTo>
                <a:lnTo>
                  <a:pt x="4233322" y="89174"/>
                </a:lnTo>
                <a:lnTo>
                  <a:pt x="4402655" y="77382"/>
                </a:lnTo>
                <a:lnTo>
                  <a:pt x="4571988" y="65317"/>
                </a:lnTo>
                <a:lnTo>
                  <a:pt x="4741321" y="53354"/>
                </a:lnTo>
                <a:lnTo>
                  <a:pt x="4910654" y="41862"/>
                </a:lnTo>
                <a:lnTo>
                  <a:pt x="5079987" y="31199"/>
                </a:lnTo>
                <a:lnTo>
                  <a:pt x="5249320" y="21694"/>
                </a:lnTo>
                <a:lnTo>
                  <a:pt x="5418653" y="13643"/>
                </a:lnTo>
                <a:lnTo>
                  <a:pt x="5587986" y="7295"/>
                </a:lnTo>
                <a:lnTo>
                  <a:pt x="5757318" y="2846"/>
                </a:lnTo>
                <a:lnTo>
                  <a:pt x="5926651" y="436"/>
                </a:lnTo>
                <a:lnTo>
                  <a:pt x="6095984" y="138"/>
                </a:lnTo>
                <a:lnTo>
                  <a:pt x="6265317" y="1961"/>
                </a:lnTo>
                <a:lnTo>
                  <a:pt x="6434650" y="5850"/>
                </a:lnTo>
                <a:lnTo>
                  <a:pt x="6603983" y="11683"/>
                </a:lnTo>
                <a:lnTo>
                  <a:pt x="6773316" y="19280"/>
                </a:lnTo>
                <a:lnTo>
                  <a:pt x="6942649" y="28405"/>
                </a:lnTo>
                <a:lnTo>
                  <a:pt x="7111982" y="38776"/>
                </a:lnTo>
                <a:lnTo>
                  <a:pt x="7281315" y="50071"/>
                </a:lnTo>
                <a:lnTo>
                  <a:pt x="7450648" y="61939"/>
                </a:lnTo>
                <a:lnTo>
                  <a:pt x="7619980" y="74013"/>
                </a:lnTo>
                <a:lnTo>
                  <a:pt x="7789313" y="85919"/>
                </a:lnTo>
                <a:lnTo>
                  <a:pt x="7958646" y="97287"/>
                </a:lnTo>
                <a:lnTo>
                  <a:pt x="8127979" y="107765"/>
                </a:lnTo>
                <a:lnTo>
                  <a:pt x="8297312" y="117029"/>
                </a:lnTo>
                <a:lnTo>
                  <a:pt x="8466645" y="124791"/>
                </a:lnTo>
                <a:lnTo>
                  <a:pt x="8635978" y="130810"/>
                </a:lnTo>
                <a:lnTo>
                  <a:pt x="8805311" y="134900"/>
                </a:lnTo>
                <a:lnTo>
                  <a:pt x="8974644" y="136934"/>
                </a:lnTo>
                <a:lnTo>
                  <a:pt x="9143977" y="136849"/>
                </a:lnTo>
                <a:lnTo>
                  <a:pt x="9313310" y="134648"/>
                </a:lnTo>
                <a:lnTo>
                  <a:pt x="9482642" y="130399"/>
                </a:lnTo>
                <a:lnTo>
                  <a:pt x="9651975" y="124233"/>
                </a:lnTo>
                <a:lnTo>
                  <a:pt x="9821308" y="116342"/>
                </a:lnTo>
                <a:lnTo>
                  <a:pt x="9990641" y="106971"/>
                </a:lnTo>
                <a:lnTo>
                  <a:pt x="10159974" y="96409"/>
                </a:lnTo>
                <a:lnTo>
                  <a:pt x="10329307" y="84985"/>
                </a:lnTo>
                <a:lnTo>
                  <a:pt x="10498640" y="73052"/>
                </a:lnTo>
                <a:lnTo>
                  <a:pt x="10667973" y="60980"/>
                </a:lnTo>
                <a:lnTo>
                  <a:pt x="10837306" y="49144"/>
                </a:lnTo>
                <a:lnTo>
                  <a:pt x="11006639" y="37911"/>
                </a:lnTo>
                <a:lnTo>
                  <a:pt x="11175972" y="27628"/>
                </a:lnTo>
                <a:lnTo>
                  <a:pt x="11345304" y="18615"/>
                </a:lnTo>
                <a:lnTo>
                  <a:pt x="11514637" y="11150"/>
                </a:lnTo>
                <a:lnTo>
                  <a:pt x="11683970" y="5466"/>
                </a:lnTo>
                <a:lnTo>
                  <a:pt x="11853303" y="1739"/>
                </a:lnTo>
                <a:lnTo>
                  <a:pt x="12022636" y="83"/>
                </a:lnTo>
                <a:lnTo>
                  <a:pt x="12191969" y="551"/>
                </a:lnTo>
                <a:lnTo>
                  <a:pt x="12192000" y="310896"/>
                </a:lnTo>
                <a:lnTo>
                  <a:pt x="0" y="310896"/>
                </a:lnTo>
                <a:close/>
              </a:path>
            </a:pathLst>
          </a:cu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91969" cy="182880"/>
          </a:xfrm>
          <a:prstGeom prst="rect">
            <a:avLst/>
          </a:prstGeom>
          <a:solidFill>
            <a:srgbClr val="14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0548"/>
            <a:ext cx="78638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6670548"/>
            <a:ext cx="1463040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