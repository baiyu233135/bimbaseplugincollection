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4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5.png"/><Relationship Id="rId14" Type="http://schemas.openxmlformats.org/officeDocument/2006/relationships/image" Target="../media/image18.png"/><Relationship Id="rId15" Type="http://schemas.openxmlformats.org/officeDocument/2006/relationships/image" Target="../media/image6.png"/><Relationship Id="rId16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128016" cy="17373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060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DEEAF6"/>
                </a:solidFill>
                <a:latin typeface="微软雅黑"/>
                <a:ea typeface="微软雅黑"/>
              </a:rPr>
              <a:t>基于国产 BIMBase 三维引擎与人工智能的桥梁建养一体化平台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429000"/>
            <a:ext cx="7223760" cy="777240"/>
          </a:xfrm>
          <a:prstGeom prst="roundRect">
            <a:avLst/>
          </a:prstGeom>
          <a:solidFill>
            <a:srgbClr val="27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4787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D7D31"/>
                </a:solidFill>
                <a:latin typeface="微软雅黑"/>
                <a:ea typeface="微软雅黑"/>
              </a:rPr>
              <a:t>2026“挑战杯”产业赛道 · 揭榜挂帅 XH-202601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人工智能与国产三维图形引擎关键核心技术的融合创新应用研究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5720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参赛学校：________________（待填写）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团队名称：________________（待填写）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指导教师：________________（待填写）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建 · 验 · 诊 · 养 全链路闭环  |  常泰长江大桥真实工程验证</a:t>
            </a:r>
          </a:p>
        </p:txBody>
      </p:sp>
      <p:pic>
        <p:nvPicPr>
          <p:cNvPr id="11" name="Picture 10" descr="thumb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234440"/>
            <a:ext cx="1508760" cy="1508760"/>
          </a:xfrm>
          <a:prstGeom prst="rect">
            <a:avLst/>
          </a:prstGeom>
        </p:spPr>
      </p:pic>
      <p:pic>
        <p:nvPicPr>
          <p:cNvPr id="12" name="Picture 11" descr="thumb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234440"/>
            <a:ext cx="1508760" cy="1508760"/>
          </a:xfrm>
          <a:prstGeom prst="rect">
            <a:avLst/>
          </a:prstGeom>
        </p:spPr>
      </p:pic>
      <p:pic>
        <p:nvPicPr>
          <p:cNvPr id="13" name="Picture 12" descr="thumb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834640"/>
            <a:ext cx="1508760" cy="1508760"/>
          </a:xfrm>
          <a:prstGeom prst="rect">
            <a:avLst/>
          </a:prstGeom>
        </p:spPr>
      </p:pic>
      <p:pic>
        <p:nvPicPr>
          <p:cNvPr id="14" name="Picture 13" descr="thumb_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834640"/>
            <a:ext cx="1508760" cy="1508760"/>
          </a:xfrm>
          <a:prstGeom prst="rect">
            <a:avLst/>
          </a:prstGeom>
        </p:spPr>
      </p:pic>
      <p:pic>
        <p:nvPicPr>
          <p:cNvPr id="15" name="Picture 14" descr="thumb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434840"/>
            <a:ext cx="1508760" cy="1508760"/>
          </a:xfrm>
          <a:prstGeom prst="rect">
            <a:avLst/>
          </a:prstGeom>
        </p:spPr>
      </p:pic>
      <p:pic>
        <p:nvPicPr>
          <p:cNvPr id="16" name="Picture 15" descr="thumb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4434840"/>
            <a:ext cx="1508760" cy="1508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4964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DEEAF6"/>
                </a:solidFill>
                <a:latin typeface="微软雅黑"/>
                <a:ea typeface="微软雅黑"/>
              </a:rPr>
              <a:t>常泰长江大桥参数化构件（节选）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02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3619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E75B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64592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行业背景与痛点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国产引擎 · 人工巡检 · 数据割裂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E75B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64592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项目总览与技术底座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BIMBase 国产引擎 + 四路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137160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0" y="1371600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153619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E75B6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0" y="164592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智能建造 · 建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AI 建模 · CAD 画板 · 图纸识别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0" y="137160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830800" y="1371600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150840" y="153619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E75B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0" y="164592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参数化组件库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15 个原创 bfa 参数化构件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4904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40"/>
            <a:ext cx="109728" cy="2011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9136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ED7D31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0233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工程验证 · 常泰长江大桥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244.9 MB 完整 P3D 工程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4904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49040"/>
            <a:ext cx="109728" cy="2011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9136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ED7D31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0233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智能诊断 · 诊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病害检测 · 大模型诊断 · 面投影定位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70080" y="374904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3749040"/>
            <a:ext cx="109728" cy="2011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90120" y="39136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ED7D31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0" y="40233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智慧养护闭环 · 养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报告自动生成与归档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30800" y="3749040"/>
            <a:ext cx="53949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830800" y="3749040"/>
            <a:ext cx="109728" cy="2011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50840" y="39136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ED7D31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0" y="40233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创新点 · 评分对照 · 产业价值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六项创新 · 满分对照 · 推广路径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行业背景与痛点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桥梁建养行业的四大结构性难题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03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25880"/>
            <a:ext cx="109728" cy="19659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27048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引擎受制于人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桥梁三维设计建模长期依赖国外商业 BIM 软件，国产三维图形引擎存在“卡脖子”风险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109728" cy="19659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27048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巡检依赖人工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桥梁病害检测以人工为主，效率低、主观性强、高空作业危险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109728" cy="19659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67328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病害与模型脱节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检测结果停留在纸质报告，无法落到 BIM 具体构件，难以追踪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66160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566160"/>
            <a:ext cx="109728" cy="19659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767328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建养数据割裂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建造模型与运维养护数据互不贯通，模型价值随竣工而终结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06424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结论：亟需“国产引擎 + 人工智能”的桥梁建养一体化平台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建 — 验 — 诊 — 养 全链路闭环架构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04 / 20</a:t>
            </a:r>
          </a:p>
        </p:txBody>
      </p:sp>
      <p:sp>
        <p:nvSpPr>
          <p:cNvPr id="10" name="Chevron 9"/>
          <p:cNvSpPr/>
          <p:nvPr/>
        </p:nvSpPr>
        <p:spPr>
          <a:xfrm>
            <a:off x="502920" y="1554480"/>
            <a:ext cx="2057400" cy="22860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建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AI 智能建模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CAD 画板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图纸识别</a:t>
            </a:r>
          </a:p>
        </p:txBody>
      </p:sp>
      <p:sp>
        <p:nvSpPr>
          <p:cNvPr id="11" name="Chevron 10"/>
          <p:cNvSpPr/>
          <p:nvPr/>
        </p:nvSpPr>
        <p:spPr>
          <a:xfrm>
            <a:off x="2788920" y="1554480"/>
            <a:ext cx="2057400" cy="22860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参数化
组件库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15+ 原创 bfa 构件</a:t>
            </a:r>
          </a:p>
        </p:txBody>
      </p:sp>
      <p:sp>
        <p:nvSpPr>
          <p:cNvPr id="12" name="Chevron 11"/>
          <p:cNvSpPr/>
          <p:nvPr/>
        </p:nvSpPr>
        <p:spPr>
          <a:xfrm>
            <a:off x="5074920" y="1554480"/>
            <a:ext cx="2057400" cy="22860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验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常泰长江大桥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P3D 工程</a:t>
            </a:r>
          </a:p>
        </p:txBody>
      </p:sp>
      <p:sp>
        <p:nvSpPr>
          <p:cNvPr id="13" name="Chevron 12"/>
          <p:cNvSpPr/>
          <p:nvPr/>
        </p:nvSpPr>
        <p:spPr>
          <a:xfrm>
            <a:off x="7360920" y="1554480"/>
            <a:ext cx="2057400" cy="228600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诊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病害检测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AI 诊断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面投影定位</a:t>
            </a:r>
          </a:p>
        </p:txBody>
      </p:sp>
      <p:sp>
        <p:nvSpPr>
          <p:cNvPr id="14" name="Chevron 13"/>
          <p:cNvSpPr/>
          <p:nvPr/>
        </p:nvSpPr>
        <p:spPr>
          <a:xfrm>
            <a:off x="9646920" y="1554480"/>
            <a:ext cx="2057400" cy="22860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养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报告闭环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归档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55680" cy="68580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底座：BIMBase 国产三维图形引擎 · pyp3d 参数化组件 · Python 插件体系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492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440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ED7D31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43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大插件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53492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440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ED7D31"/>
                </a:solidFill>
                <a:latin typeface="微软雅黑"/>
                <a:ea typeface="微软雅黑"/>
              </a:rPr>
              <a:t>15+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943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原创参数化构件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3492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440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ED7D31"/>
                </a:solidFill>
                <a:latin typeface="微软雅黑"/>
                <a:ea typeface="微软雅黑"/>
              </a:rPr>
              <a:t>1,000+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943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标注样本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3492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5440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ED7D3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943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条建养全链路闭环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技术底座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国产引擎 × 人工智能 × 工程应用的三层技术栈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05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920240" cy="11887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556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国产引擎层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371600"/>
            <a:ext cx="6309360" cy="11887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57276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4E79"/>
                </a:solidFill>
                <a:latin typeface="微软雅黑"/>
                <a:ea typeface="微软雅黑"/>
              </a:rPr>
              <a:t>BIMBase（中国建筑科学研究院 / 构力科技）· pyp3d 参数化建模接口：拉伸 / 放样 / 布尔 / 阵列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1920240" cy="11887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729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AI 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2788920"/>
            <a:ext cx="6309360" cy="11887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99008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4E79"/>
                </a:solidFill>
                <a:latin typeface="微软雅黑"/>
                <a:ea typeface="微软雅黑"/>
              </a:rPr>
              <a:t>YOLOv8 检测 · OpenCV 图像分析 · Qwen-VL 多模态诊断 · DeepSeek 大模型 · PaddleOCR · PyMuPDF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920240" cy="118872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902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应用层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206240"/>
            <a:ext cx="6309360" cy="11887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440740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4E79"/>
                </a:solidFill>
                <a:latin typeface="微软雅黑"/>
                <a:ea typeface="微软雅黑"/>
              </a:rPr>
              <a:t>PyQt5 界面 · python-docx 报告 · ODA DWG/DXF 转换 · DXF 图纸生成</a:t>
            </a:r>
          </a:p>
        </p:txBody>
      </p:sp>
      <p:pic>
        <p:nvPicPr>
          <p:cNvPr id="22" name="Picture 21" descr="CAD画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371600"/>
            <a:ext cx="1371600" cy="137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738360" y="1371600"/>
            <a:ext cx="1371600" cy="137160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桥隧识别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926080"/>
            <a:ext cx="1371600" cy="1371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738360" y="2926080"/>
            <a:ext cx="1371600" cy="137160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4526280"/>
            <a:ext cx="2377440" cy="105156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自研插件图标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F4E79"/>
                </a:solidFill>
                <a:latin typeface="微软雅黑"/>
                <a:ea typeface="微软雅黑"/>
              </a:rPr>
              <a:t>CAD 画板 / 桥隧识别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智能建造 · 建 —— AI 智能建模（AI_Modeling）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自然语言一句话 → BIMBase 参数化构件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06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自然语言一句话 → BIMBase 参数化构件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双路驱动：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本地中文解析器优先（897 行：汉字数字“五百二百一百”连读切坐标、全半角归一、单位换算、方向词映射）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DeepSeek 云端大模型兜底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七级兜底自动放置链（破解商业 BIM API“必须在交互回调链中创建实体”的限制）：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直接几何 → PlaceToDirect → place_to → 烘焙坐标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→ 临时 IFC/OBJ 导入 → SendInput 模拟交互 → 手动放置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智能阵列：线性 / 矩形 / 极坐标，沿路线等距布置并自动对齐切向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463040"/>
            <a:ext cx="3886200" cy="3108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F7F7F"/>
                </a:solidFill>
                <a:latin typeface="微软雅黑"/>
                <a:ea typeface="微软雅黑"/>
              </a:rPr>
              <a:t>【截图占位】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AI 建模面板运行界面（BIMBase 内运行后替换）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754880"/>
            <a:ext cx="3886200" cy="11887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892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示例：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“沿路线每隔 50 米放一个门式桥墩” → 自动阵列布置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智能建造 · 建 —— 速构智维 CAD 画板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内嵌 BIMBase 的 PyQt 参数化二维画板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07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A3 虚拟画布（420×297mm）· 16 个绘图/编辑命令 · 50 步撤销 · 端点/交点/垂足/网格吸附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画板 ↔ BIMBase 双向同步：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19 个 pyp3d Component 子类 + 四级放置策略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“从 BIMBase 更新”反向回写（框选策略，避免 1,900+ 实例全场景扫描卡死）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面编辑创新：三视图拖拽尺寸 → diff 反推参数 → 批量重生成 → 同步实体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“改图纸即改模型”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数据互通：DWG↔DXF（ODA File Converter）+ 矢量 PDF（PyMuPDF）导入导出</a:t>
            </a:r>
          </a:p>
        </p:txBody>
      </p:sp>
      <p:pic>
        <p:nvPicPr>
          <p:cNvPr id="11" name="Picture 10" descr="CAD画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1371600" cy="1371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72400" y="2926080"/>
            <a:ext cx="3886200" cy="3017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F7F7F"/>
                </a:solidFill>
                <a:latin typeface="微软雅黑"/>
                <a:ea typeface="微软雅黑"/>
              </a:rPr>
              <a:t>【截图占位】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画板运行截图（BIMBase 内运行后替换）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智能建造 · 建 —— 图纸识别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三视图 PDF/DXF 图纸 → 结构化参数 → 参数化构件自动生成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08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双方案混合：本地规则解析（第一角投影 pdf_view_recognizer）+ Qwen-VL 多模态识别（drawing_recognizer）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component_matcher 模板匹配 → 生成参数化 .py → 执行建模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■ 已打通四大构件：索缆锚锭 / 引桥桥墩 / 门式桥墩 / 承台及桩基</a:t>
            </a:r>
          </a:p>
        </p:txBody>
      </p:sp>
      <p:pic>
        <p:nvPicPr>
          <p:cNvPr id="11" name="Picture 10" descr="门式桥墩_图纸预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383280"/>
            <a:ext cx="4114800" cy="2743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80160" y="3383280"/>
            <a:ext cx="4114800" cy="274320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承台及桩基_图纸预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383280"/>
            <a:ext cx="4114800" cy="2743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858000" y="3383280"/>
            <a:ext cx="4114800" cy="274320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参数化组件库 —— 常泰长江大桥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15 个原创 bfa 参数化构件 · 3 大分类 · 全部 ≥4 个有效可调参数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09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3931920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6187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上部结构（7）</a:t>
            </a:r>
          </a:p>
        </p:txBody>
      </p:sp>
      <p:pic>
        <p:nvPicPr>
          <p:cNvPr id="12" name="Picture 11" descr="thumb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83080"/>
            <a:ext cx="1078992" cy="1078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主塔</a:t>
            </a:r>
          </a:p>
        </p:txBody>
      </p:sp>
      <p:pic>
        <p:nvPicPr>
          <p:cNvPr id="14" name="Picture 13" descr="thumb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1783080"/>
            <a:ext cx="1078992" cy="1078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28216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侧面钢桁架</a:t>
            </a:r>
          </a:p>
        </p:txBody>
      </p:sp>
      <p:pic>
        <p:nvPicPr>
          <p:cNvPr id="16" name="Picture 15" descr="thumb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783080"/>
            <a:ext cx="1078992" cy="1078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4952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工字钢梁</a:t>
            </a:r>
          </a:p>
        </p:txBody>
      </p:sp>
      <p:pic>
        <p:nvPicPr>
          <p:cNvPr id="18" name="Picture 17" descr="thumb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264408"/>
            <a:ext cx="1078992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34340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支座</a:t>
            </a:r>
          </a:p>
        </p:txBody>
      </p:sp>
      <p:pic>
        <p:nvPicPr>
          <p:cNvPr id="20" name="Picture 19" descr="thumb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224" y="3264408"/>
            <a:ext cx="1078992" cy="10789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28216" y="434340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斜拉索</a:t>
            </a:r>
          </a:p>
        </p:txBody>
      </p:sp>
      <p:pic>
        <p:nvPicPr>
          <p:cNvPr id="22" name="Picture 21" descr="thumb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3264408"/>
            <a:ext cx="1078992" cy="10789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044952" y="434340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自密实混凝土层及隔离层</a:t>
            </a:r>
          </a:p>
        </p:txBody>
      </p:sp>
      <p:pic>
        <p:nvPicPr>
          <p:cNvPr id="24" name="Picture 23" descr="thumb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4745736"/>
            <a:ext cx="1078992" cy="10789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1480" y="5824728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轨道底座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1188720"/>
            <a:ext cx="393192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26187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下部结构（3）</a:t>
            </a:r>
          </a:p>
        </p:txBody>
      </p:sp>
      <p:pic>
        <p:nvPicPr>
          <p:cNvPr id="28" name="Picture 27" descr="thumb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8848" y="1783080"/>
            <a:ext cx="1078992" cy="10789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34840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扩大基础</a:t>
            </a:r>
          </a:p>
        </p:txBody>
      </p:sp>
      <p:pic>
        <p:nvPicPr>
          <p:cNvPr id="30" name="Picture 29" descr="thumb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5584" y="1783080"/>
            <a:ext cx="1078992" cy="10789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51576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承台及桩基</a:t>
            </a:r>
          </a:p>
        </p:txBody>
      </p:sp>
      <p:pic>
        <p:nvPicPr>
          <p:cNvPr id="32" name="Picture 31" descr="thumb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783080"/>
            <a:ext cx="1078992" cy="10789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68312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门式桥墩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1188720"/>
            <a:ext cx="3931920" cy="4572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126187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附属设施（5）</a:t>
            </a:r>
          </a:p>
        </p:txBody>
      </p:sp>
      <p:pic>
        <p:nvPicPr>
          <p:cNvPr id="36" name="Picture 35" descr="thumb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1783080"/>
            <a:ext cx="1078992" cy="10789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58200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接触网</a:t>
            </a:r>
          </a:p>
        </p:txBody>
      </p:sp>
      <p:pic>
        <p:nvPicPr>
          <p:cNvPr id="38" name="Picture 37" descr="thumb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8944" y="1783080"/>
            <a:ext cx="1078992" cy="10789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74936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新泽西护栏</a:t>
            </a:r>
          </a:p>
        </p:txBody>
      </p:sp>
      <p:pic>
        <p:nvPicPr>
          <p:cNvPr id="40" name="Picture 39" descr="thumb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55680" y="1783080"/>
            <a:ext cx="1078992" cy="107899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091672" y="2862072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路面及交通标线</a:t>
            </a:r>
          </a:p>
        </p:txBody>
      </p:sp>
      <p:pic>
        <p:nvPicPr>
          <p:cNvPr id="42" name="Picture 41" descr="thumb_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2208" y="3264408"/>
            <a:ext cx="1078992" cy="10789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58200" y="434340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轨道</a:t>
            </a:r>
          </a:p>
        </p:txBody>
      </p:sp>
      <p:pic>
        <p:nvPicPr>
          <p:cNvPr id="44" name="Picture 43" descr="thumb_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38944" y="3264408"/>
            <a:ext cx="1078992" cy="107899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774936" y="434340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</a:rPr>
              <a:t>铁路封闭网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1722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主塔 · 侧面钢桁架 · 工字钢梁 · 斜拉索 · 支座 · 自密实混凝土层及隔离层 · 轨道底座 / 门式桥墩 · 承台及桩基 · 扩大基础 / 新泽西护栏 · 铁路封闭网 · 轨道 · 接触网 · 路面及交通标线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参数化组件库 —— 组件测试（参数化试验场）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按真实工程图纸逐构件参数化建模与健壮性检验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7040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ED7D31"/>
                </a:solidFill>
                <a:latin typeface="微软雅黑"/>
                <a:ea typeface="微软雅黑"/>
              </a:rPr>
              <a:t>■ 4 基础几何体：正方体 / 长方体 / 圆柱 / 直角三棱柱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ED7D31"/>
                </a:solidFill>
                <a:latin typeface="微软雅黑"/>
                <a:ea typeface="微软雅黑"/>
              </a:rPr>
              <a:t>■ 5 工程构件（按真实图纸参数化）：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F4E79"/>
                </a:solidFill>
                <a:latin typeface="微软雅黑"/>
                <a:ea typeface="微软雅黑"/>
              </a:rPr>
              <a:t>▸ 工字钢混凝土组合梁（加劲肋阵列）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F4E79"/>
                </a:solidFill>
                <a:latin typeface="微软雅黑"/>
                <a:ea typeface="微软雅黑"/>
              </a:rPr>
              <a:t>▸ 索缆锚锭（异形 Sweep + 14 根底柱）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F4E79"/>
                </a:solidFill>
                <a:latin typeface="微软雅黑"/>
                <a:ea typeface="微软雅黑"/>
              </a:rPr>
              <a:t>▸ 引桥桥墩（斜边盖梁 Sweep + 双柱）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F4E79"/>
                </a:solidFill>
                <a:latin typeface="微软雅黑"/>
                <a:ea typeface="微软雅黑"/>
              </a:rPr>
              <a:t>▸ 门式桥墩（双变截面空心八边形墩柱，Loft + 布尔减兜底）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1F4E79"/>
                </a:solidFill>
                <a:latin typeface="微软雅黑"/>
                <a:ea typeface="微软雅黑"/>
              </a:rPr>
              <a:t>▸ 承台及桩基（矩形承台 + 锥形桩阵列）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ED7D31"/>
                </a:solidFill>
                <a:latin typeface="微软雅黑"/>
                <a:ea typeface="微软雅黑"/>
              </a:rPr>
              <a:t>■ 工程技巧沉淀：Cone 替代 Cylinder · Combine 合成实体 · mm/cm 单位约定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D7D31"/>
                </a:solidFill>
                <a:latin typeface="微软雅黑"/>
                <a:ea typeface="微软雅黑"/>
              </a:rPr>
              <a:t>■ 合计 20+ 参数化构件，逐个通过参数健壮性检验</a:t>
            </a:r>
          </a:p>
        </p:txBody>
      </p:sp>
      <p:pic>
        <p:nvPicPr>
          <p:cNvPr id="11" name="Picture 10" descr="承台及桩基_图纸预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371600"/>
            <a:ext cx="3566160" cy="2377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955280" y="1371600"/>
            <a:ext cx="3566160" cy="237744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3931920"/>
            <a:ext cx="384048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F7F7F"/>
                </a:solidFill>
                <a:latin typeface="微软雅黑"/>
                <a:ea typeface="微软雅黑"/>
              </a:rPr>
              <a:t>【截图占位】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构件三维效果截图（BIMBase 内运行后替换）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工程验证 · 验 —— 常泰长江大桥工程实践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以 15 个参数化构件在 BIMBase 唯一创作平台搭建完整桥梁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11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ED7D31"/>
                </a:solidFill>
                <a:latin typeface="微软雅黑"/>
                <a:ea typeface="微软雅黑"/>
              </a:rPr>
              <a:t>■ 完整搭建常泰长江大桥：双层斜拉桥，公铁两用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ED7D31"/>
                </a:solidFill>
                <a:latin typeface="微软雅黑"/>
                <a:ea typeface="微软雅黑"/>
              </a:rPr>
              <a:t>■ 交付 244.9 MB 完整 P3D 工程文件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F4E79"/>
                </a:solidFill>
                <a:latin typeface="微软雅黑"/>
                <a:ea typeface="微软雅黑"/>
              </a:rPr>
              <a:t>▸ 场景自洽、可流畅加载、可直接交付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ED7D31"/>
                </a:solidFill>
                <a:latin typeface="微软雅黑"/>
                <a:ea typeface="微软雅黑"/>
              </a:rPr>
              <a:t>■ 工程化能力：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F4E79"/>
                </a:solidFill>
                <a:latin typeface="微软雅黑"/>
                <a:ea typeface="微软雅黑"/>
              </a:rPr>
              <a:t>▸ 一键 pack_to_bfa 批量打包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F4E79"/>
                </a:solidFill>
                <a:latin typeface="微软雅黑"/>
                <a:ea typeface="微软雅黑"/>
              </a:rPr>
              <a:t>▸ 组件库性能优化，独立为 v1.1.0 插件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4572000" cy="4572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F7F7F"/>
                </a:solidFill>
                <a:latin typeface="微软雅黑"/>
                <a:ea typeface="微软雅黑"/>
              </a:rPr>
              <a:t>【截图占位】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常泰长江大桥 P3D 全景截图
（BIMBase 内运行后替换，
请标注：主塔 / 斜拉索 / 双层桥面 / 门式桥墩）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0350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部位标注：主塔 · 斜拉索 · 双层桥面 · 门式桥墩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智能诊断 · 诊 —— 病害智能检测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无人机巡检照片 → 智能检测（6 类病害）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12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ED7D31"/>
                </a:solidFill>
                <a:latin typeface="微软雅黑"/>
                <a:ea typeface="微软雅黑"/>
              </a:rPr>
              <a:t>■ 6 类病害：裂缝 / 剥落 / 露筋 / 蜂窝麻面 / 渗水 / 锈蚀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ED7D31"/>
                </a:solidFill>
                <a:latin typeface="微软雅黑"/>
                <a:ea typeface="微软雅黑"/>
              </a:rPr>
              <a:t>■ 模式一：YOLOv8n 专用权重，GPU / CPU 均可训练部署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D7D31"/>
                </a:solidFill>
                <a:latin typeface="微软雅黑"/>
                <a:ea typeface="微软雅黑"/>
              </a:rPr>
              <a:t>■ 模式二（创新）：免模型五路 CV 掩码融合 —— 黑帽变换、多尺度自适应阈值、K-Means 颜色聚类、局部纹理标准差、Canny 边缘密度 + HSV 天空抑制 + NMS；无训练数据场景零门槛可用</a:t>
            </a:r>
          </a:p>
        </p:txBody>
      </p:sp>
      <p:pic>
        <p:nvPicPr>
          <p:cNvPr id="11" name="Picture 10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600"/>
            <a:ext cx="5303520" cy="2651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3657600"/>
            <a:ext cx="5303520" cy="265176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194" y="3657600"/>
            <a:ext cx="4271291" cy="2651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871194" y="3657600"/>
            <a:ext cx="4271291" cy="265176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YOLOv8n 训练曲线（results.png）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64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验证集检测效果（val_batch0_pred.jpg）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智能诊断 · 诊 —— 数据集与大模型诊断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公开集 + 本地标注 + Qwen-VL 双图结构化诊断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13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ED7D31"/>
                </a:solidFill>
                <a:latin typeface="微软雅黑"/>
                <a:ea typeface="微软雅黑"/>
              </a:rPr>
              <a:t>■ 数据：公开集 GYU-DET（11,123 张）+ CODEBRIM（1,022 张）+ 本地巡检报告提取与人工标注（整合集 1,014 张）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ED7D31"/>
                </a:solidFill>
                <a:latin typeface="微软雅黑"/>
                <a:ea typeface="微软雅黑"/>
              </a:rPr>
              <a:t>■ 训练：YOLOv8n · 50 epochs · CPU 训练 · mAP50 ≈ 0.336（如实呈现，持续迭代优化）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D7D31"/>
                </a:solidFill>
                <a:latin typeface="微软雅黑"/>
                <a:ea typeface="微软雅黑"/>
              </a:rPr>
              <a:t>■ Qwen-VL-Max 双图诊断：原图 + 带框图输入 → 严格 JSON 输出（病害类型 / 程度 / 成因分析 / 处置建议 / 紧迫度 五字段）</a:t>
            </a:r>
          </a:p>
        </p:txBody>
      </p:sp>
      <p:pic>
        <p:nvPicPr>
          <p:cNvPr id="11" name="Picture 10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3657600"/>
            <a:ext cx="3977640" cy="2651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48740" y="3657600"/>
            <a:ext cx="3977640" cy="265176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657600"/>
            <a:ext cx="3535680" cy="2651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239000" y="3657600"/>
            <a:ext cx="3535680" cy="2651760"/>
          </a:xfrm>
          <a:prstGeom prst="rect">
            <a:avLst/>
          </a:prstGeom>
          <a:noFill/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精度-召回曲线（BoxPR_curve.png）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64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归一化混淆矩阵（confusion_matrix_normalized.png）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智能诊断 · 诊 —— 核心创新：2D→3D 解析式面投影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让病害精准“贴”到 BIM 真实构件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14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7040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传统路线：摄影测量 / 点云配准 —— 设备昂贵、流程重、基层难落地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本项目轻路线：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检测框 → 构件面中心 + 法向 + U/V 轴解析式等比投影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▸ 2mm 法向偏移防闪面，点云标记 Combine 合成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ED7D31"/>
                </a:solidFill>
                <a:latin typeface="微软雅黑"/>
                <a:ea typeface="微软雅黑"/>
              </a:rPr>
              <a:t>■ 病害精准“贴”到 BIM 真实构件，构件类型识别覆盖 19+ 种参数签名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■ 价值：形成“看得见的病害档案”，为养护决策提供空间载体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63040"/>
            <a:ext cx="3840480" cy="4572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F7F7F"/>
                </a:solidFill>
                <a:latin typeface="微软雅黑"/>
                <a:ea typeface="微软雅黑"/>
              </a:rPr>
              <a:t>【截图占位】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病害投影到构件效果截图（BIMBase 内运行后替换）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智慧养护 · 养 —— 全链路闭环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从无人机巡检到 Word 报告归档，一键贯通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15 / 20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1371600"/>
            <a:ext cx="2395728" cy="9144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无人机巡检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6624" y="1371600"/>
            <a:ext cx="2395728" cy="9144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CV / YOLO 检测</a:t>
            </a:r>
          </a:p>
        </p:txBody>
      </p:sp>
      <p:sp>
        <p:nvSpPr>
          <p:cNvPr id="12" name="Chevron 11"/>
          <p:cNvSpPr/>
          <p:nvPr/>
        </p:nvSpPr>
        <p:spPr>
          <a:xfrm>
            <a:off x="5047488" y="1371600"/>
            <a:ext cx="2395728" cy="914400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Qwen-VL 诊断</a:t>
            </a:r>
          </a:p>
        </p:txBody>
      </p:sp>
      <p:sp>
        <p:nvSpPr>
          <p:cNvPr id="13" name="Chevron 12"/>
          <p:cNvSpPr/>
          <p:nvPr/>
        </p:nvSpPr>
        <p:spPr>
          <a:xfrm>
            <a:off x="7388352" y="1371600"/>
            <a:ext cx="2395728" cy="9144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面投影定位到 BIM 构件</a:t>
            </a:r>
          </a:p>
        </p:txBody>
      </p:sp>
      <p:sp>
        <p:nvSpPr>
          <p:cNvPr id="14" name="Chevron 13"/>
          <p:cNvSpPr/>
          <p:nvPr/>
        </p:nvSpPr>
        <p:spPr>
          <a:xfrm>
            <a:off x="9729216" y="1371600"/>
            <a:ext cx="2395728" cy="91440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自动生成 Word 巡检报告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7040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ED7D31"/>
                </a:solidFill>
                <a:latin typeface="微软雅黑"/>
                <a:ea typeface="微软雅黑"/>
              </a:rPr>
              <a:t>■ 报告（python-docx）：病害清单 / 位置 / 程度 / 成因 / 处置建议，可直接归档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ED7D31"/>
                </a:solidFill>
                <a:latin typeface="微软雅黑"/>
                <a:ea typeface="微软雅黑"/>
              </a:rPr>
              <a:t>■ 建-诊-养贯通：建造阶段的模型即养护阶段的数据载体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ED7D31"/>
                </a:solidFill>
                <a:latin typeface="微软雅黑"/>
                <a:ea typeface="微软雅黑"/>
              </a:rPr>
              <a:t>▸ 模型价值贯穿桥梁全生命周期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651760"/>
            <a:ext cx="3840480" cy="32918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F7F7F"/>
                </a:solidFill>
                <a:latin typeface="微软雅黑"/>
                <a:ea typeface="微软雅黑"/>
              </a:rPr>
              <a:t>【截图占位】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自动生成的巡检报告截图（Word 报告，运行后替换）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数据参考源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数据按需使用，全程服务于模型训练与识别验证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16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3949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109728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公开病害数据集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GYU-DET、CODEBRIM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（训练与验证）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3949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109728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7830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本地巡检数据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巡检报告提取 + 人工标注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（整合集 1,014 张）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40"/>
            <a:ext cx="53949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49040"/>
            <a:ext cx="109728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776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工程图纸与参考资料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承台及桩基、门式桥墩等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真实工程图纸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49040"/>
            <a:ext cx="53949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749040"/>
            <a:ext cx="109728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776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数据使用原则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按需使用，服务于模型训练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与识别验证，不作他用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创新点总结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六项核心创新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17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65760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1. 平台空档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首个基于国产 BIMBase 的桥梁病害识别—BIM 投影闭环（现有成果均基于 Revit / IFC）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71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371600"/>
            <a:ext cx="365760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2. 免模型检测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五路 CV 掩码融合，零训练数据门槛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365760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3. 多模态诊断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Qwen-VL 双图输入，五字段结构化输出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4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749040"/>
            <a:ext cx="3657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22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4. 轻量投影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解析式 2D→3D 面投影，替代昂贵点云路线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4904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3749040"/>
            <a:ext cx="3657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822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5. 混合建模架构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4348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中文本地解析优先 + 大模型兜底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74904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3749040"/>
            <a:ext cx="3657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822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6. 图纸驱动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4348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面编辑 diff 反推参数，“改图纸即改模型”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评分标准对照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作品能力逐项对标评分维度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18 / 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6304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371600"/>
                <a:gridCol w="6858000"/>
              </a:tblGrid>
              <a:tr h="746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评分维度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满分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本项目对应成果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作品完整性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 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244.9 MB P3D 完整工程，场景自洽可交付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构件综合完成能力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25 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15+ 原创参数化构件，超额完成、逐个健壮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AI 应用能力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25 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检测 + 诊断 + 建模 + 图纸识别四路 AI 深度融合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场景及模型美观度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10 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真实重大工程场景：常泰长江大桥双层斜拉桥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创新性及应用潜力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 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建养全链条通用架构，12 项扩展路线可持续演进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D7D31"/>
                </a:solidFill>
                <a:latin typeface="微软雅黑"/>
                <a:ea typeface="微软雅黑"/>
              </a:rPr>
              <a:t>合计：100 分 —— 各项指标均给出可核验的工程实证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产业价值与推广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DEEAF6"/>
                </a:solidFill>
                <a:latin typeface="微软雅黑"/>
                <a:ea typeface="微软雅黑"/>
              </a:rPr>
              <a:t>战略契合 · 生态协同 · 落地路径清晰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桥元智构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7F7F7F"/>
                </a:solidFill>
                <a:latin typeface="微软雅黑"/>
                <a:ea typeface="微软雅黑"/>
              </a:rPr>
              <a:t>桥元智构 · 基于国产 BIMBase 与人工智能的桥梁建养一体化平台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7F7F7F"/>
                </a:solidFill>
                <a:latin typeface="微软雅黑"/>
                <a:ea typeface="微软雅黑"/>
              </a:rPr>
              <a:t>19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ED7D31"/>
                </a:solidFill>
                <a:latin typeface="微软雅黑"/>
                <a:ea typeface="微软雅黑"/>
              </a:rPr>
              <a:t>■ 战略契合：交通强国、基础设施智慧运维、国产软件自主可控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ED7D31"/>
                </a:solidFill>
                <a:latin typeface="微软雅黑"/>
                <a:ea typeface="微软雅黑"/>
              </a:rPr>
              <a:t>■ 生态协同：与 PKPM 系列软件（结构 / BIM 协同 / CAE）深度结合空间广阔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ED7D31"/>
                </a:solidFill>
                <a:latin typeface="微软雅黑"/>
                <a:ea typeface="微软雅黑"/>
              </a:rPr>
              <a:t>■ 推广路径：</a:t>
            </a:r>
          </a:p>
          <a:p>
            <a:pPr lvl="1">
              <a:lnSpc>
                <a:spcPct val="105000"/>
              </a:lnSpc>
              <a:spcAft>
                <a:spcPts val="1200"/>
              </a:spcAft>
            </a:pPr>
            <a:r>
              <a:rPr sz="1300" b="0">
                <a:solidFill>
                  <a:srgbClr val="1F4E79"/>
                </a:solidFill>
                <a:latin typeface="微软雅黑"/>
                <a:ea typeface="微软雅黑"/>
              </a:rPr>
              <a:t>▸ 设计院（智能建模）→ 施工单位（图纸识别）→ 管养单位（巡检闭环）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ED7D31"/>
                </a:solidFill>
                <a:latin typeface="微软雅黑"/>
                <a:ea typeface="微软雅黑"/>
              </a:rPr>
              <a:t>■ 落地门槛低：普通无人机 + 笔记本即可部署，适合基层管养单位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ED7D31"/>
                </a:solidFill>
                <a:latin typeface="微软雅黑"/>
                <a:ea typeface="微软雅黑"/>
              </a:rPr>
              <a:t>■ 可持续演进：AI 自动化扩展路线图 12 项（多轮上下文、智能阵列、模板库…）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让每一座桥梁，建得更快、养得更智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DEEAF6"/>
                </a:solidFill>
                <a:latin typeface="微软雅黑"/>
                <a:ea typeface="微软雅黑"/>
              </a:rPr>
              <a:t>以国产引擎筑基，以人工智能赋能 —— 桥元智构，服务桥梁全生命周期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感谢发榜单位与评审专家（待填写）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团队联系方式：________________（待填写）</a:t>
            </a:r>
          </a:p>
        </p:txBody>
      </p:sp>
      <p:pic>
        <p:nvPicPr>
          <p:cNvPr id="7" name="Picture 6" descr="thumb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127" y="5440680"/>
            <a:ext cx="914400" cy="914400"/>
          </a:xfrm>
          <a:prstGeom prst="rect">
            <a:avLst/>
          </a:prstGeom>
        </p:spPr>
      </p:pic>
      <p:pic>
        <p:nvPicPr>
          <p:cNvPr id="8" name="Picture 7" descr="thumb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847" y="5440680"/>
            <a:ext cx="914400" cy="914400"/>
          </a:xfrm>
          <a:prstGeom prst="rect">
            <a:avLst/>
          </a:prstGeom>
        </p:spPr>
      </p:pic>
      <p:pic>
        <p:nvPicPr>
          <p:cNvPr id="9" name="Picture 8" descr="thumb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567" y="5440680"/>
            <a:ext cx="914400" cy="914400"/>
          </a:xfrm>
          <a:prstGeom prst="rect">
            <a:avLst/>
          </a:prstGeom>
        </p:spPr>
      </p:pic>
      <p:pic>
        <p:nvPicPr>
          <p:cNvPr id="10" name="Picture 9" descr="thumb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287" y="5440680"/>
            <a:ext cx="914400" cy="914400"/>
          </a:xfrm>
          <a:prstGeom prst="rect">
            <a:avLst/>
          </a:prstGeom>
        </p:spPr>
      </p:pic>
      <p:pic>
        <p:nvPicPr>
          <p:cNvPr id="11" name="Picture 10" descr="thumb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007" y="5440680"/>
            <a:ext cx="914400" cy="914400"/>
          </a:xfrm>
          <a:prstGeom prst="rect">
            <a:avLst/>
          </a:prstGeom>
        </p:spPr>
      </p:pic>
      <p:pic>
        <p:nvPicPr>
          <p:cNvPr id="12" name="Picture 11" descr="thumb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1727" y="5440680"/>
            <a:ext cx="914400" cy="914400"/>
          </a:xfrm>
          <a:prstGeom prst="rect">
            <a:avLst/>
          </a:prstGeom>
        </p:spPr>
      </p:pic>
      <p:pic>
        <p:nvPicPr>
          <p:cNvPr id="13" name="Picture 12" descr="thumb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447" y="5440680"/>
            <a:ext cx="914400" cy="914400"/>
          </a:xfrm>
          <a:prstGeom prst="rect">
            <a:avLst/>
          </a:prstGeom>
        </p:spPr>
      </p:pic>
      <p:pic>
        <p:nvPicPr>
          <p:cNvPr id="14" name="Picture 13" descr="thumb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9167" y="54406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